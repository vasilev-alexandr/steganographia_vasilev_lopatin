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9" r:id="rId2"/>
    <p:sldId id="473" r:id="rId3"/>
    <p:sldId id="492" r:id="rId4"/>
    <p:sldId id="495" r:id="rId5"/>
    <p:sldId id="496" r:id="rId6"/>
    <p:sldId id="497" r:id="rId7"/>
    <p:sldId id="499" r:id="rId8"/>
    <p:sldId id="500" r:id="rId9"/>
    <p:sldId id="508" r:id="rId10"/>
    <p:sldId id="493" r:id="rId11"/>
    <p:sldId id="501" r:id="rId12"/>
    <p:sldId id="502" r:id="rId13"/>
    <p:sldId id="503" r:id="rId14"/>
    <p:sldId id="509" r:id="rId15"/>
    <p:sldId id="504" r:id="rId16"/>
    <p:sldId id="494" r:id="rId17"/>
    <p:sldId id="506" r:id="rId18"/>
    <p:sldId id="505" r:id="rId1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D1AD9544-0DF6-42F8-ADB6-AF80BF3FB45D}">
          <p14:sldIdLst>
            <p14:sldId id="259"/>
            <p14:sldId id="473"/>
            <p14:sldId id="492"/>
            <p14:sldId id="495"/>
            <p14:sldId id="496"/>
            <p14:sldId id="497"/>
            <p14:sldId id="499"/>
            <p14:sldId id="500"/>
            <p14:sldId id="508"/>
            <p14:sldId id="493"/>
            <p14:sldId id="501"/>
            <p14:sldId id="502"/>
            <p14:sldId id="503"/>
            <p14:sldId id="509"/>
            <p14:sldId id="504"/>
            <p14:sldId id="494"/>
            <p14:sldId id="506"/>
            <p14:sldId id="505"/>
          </p14:sldIdLst>
        </p14:section>
      </p14:sectionLst>
    </p:ext>
    <p:ext uri="{EFAFB233-063F-42B5-8137-9DF3F51BA10A}">
      <p15:sldGuideLst xmlns:p15="http://schemas.microsoft.com/office/powerpoint/2012/main">
        <p15:guide id="1" orient="horz" pos="2160" userDrawn="1">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Левахина Ксения Сергеевна" initials="ЛКС" lastIdx="1" clrIdx="0">
    <p:extLst>
      <p:ext uri="{19B8F6BF-5375-455C-9EA6-DF929625EA0E}">
        <p15:presenceInfo xmlns:p15="http://schemas.microsoft.com/office/powerpoint/2012/main" userId="Левахина Ксения Сергеевна" providerId="None"/>
      </p:ext>
    </p:extLst>
  </p:cmAuthor>
  <p:cmAuthor id="2" name="Егор Микутьев" initials="ЕМ" lastIdx="1" clrIdx="1">
    <p:extLst>
      <p:ext uri="{19B8F6BF-5375-455C-9EA6-DF929625EA0E}">
        <p15:presenceInfo xmlns:p15="http://schemas.microsoft.com/office/powerpoint/2012/main" userId="5af1dbe6a5fc3055"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651" autoAdjust="0"/>
    <p:restoredTop sz="93763" autoAdjust="0"/>
  </p:normalViewPr>
  <p:slideViewPr>
    <p:cSldViewPr snapToGrid="0">
      <p:cViewPr varScale="1">
        <p:scale>
          <a:sx n="110" d="100"/>
          <a:sy n="110" d="100"/>
        </p:scale>
        <p:origin x="822" y="96"/>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7F7AC7B-00F5-48DD-8928-FD33BA30184F}" type="datetimeFigureOut">
              <a:rPr lang="ru-RU" smtClean="0"/>
              <a:t>26.10.2026</a:t>
            </a:fld>
            <a:endParaRPr lang="ru-RU"/>
          </a:p>
        </p:txBody>
      </p:sp>
      <p:sp>
        <p:nvSpPr>
          <p:cNvPr id="4" name="Образ слайда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35B2B51-16B6-4AAD-80E4-269AF0A31870}" type="slidenum">
              <a:rPr lang="ru-RU" smtClean="0"/>
              <a:t>‹#›</a:t>
            </a:fld>
            <a:endParaRPr lang="ru-RU"/>
          </a:p>
        </p:txBody>
      </p:sp>
    </p:spTree>
    <p:extLst>
      <p:ext uri="{BB962C8B-B14F-4D97-AF65-F5344CB8AC3E}">
        <p14:creationId xmlns:p14="http://schemas.microsoft.com/office/powerpoint/2010/main" val="2167387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p:cNvSpPr>
            <a:spLocks noGrp="1"/>
          </p:cNvSpPr>
          <p:nvPr>
            <p:ph type="dt" sz="half" idx="10"/>
          </p:nvPr>
        </p:nvSpPr>
        <p:spPr/>
        <p:txBody>
          <a:bodyPr/>
          <a:lstStyle/>
          <a:p>
            <a:fld id="{FC4DA884-6834-43C3-9962-0908708BB635}" type="datetime1">
              <a:rPr lang="ru-RU" smtClean="0"/>
              <a:t>26.10.2026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93D2B9D-3E5A-4208-B841-6DCB29E9E020}" type="slidenum">
              <a:rPr lang="ru-RU" smtClean="0"/>
              <a:t>‹#›</a:t>
            </a:fld>
            <a:endParaRPr lang="ru-RU"/>
          </a:p>
        </p:txBody>
      </p:sp>
    </p:spTree>
    <p:extLst>
      <p:ext uri="{BB962C8B-B14F-4D97-AF65-F5344CB8AC3E}">
        <p14:creationId xmlns:p14="http://schemas.microsoft.com/office/powerpoint/2010/main" val="3011814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99E69084-B616-42FD-97D2-132FA2D9D3EC}" type="datetime1">
              <a:rPr lang="ru-RU" smtClean="0"/>
              <a:t>26.10.2026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93D2B9D-3E5A-4208-B841-6DCB29E9E020}" type="slidenum">
              <a:rPr lang="ru-RU" smtClean="0"/>
              <a:t>‹#›</a:t>
            </a:fld>
            <a:endParaRPr lang="ru-RU"/>
          </a:p>
        </p:txBody>
      </p:sp>
    </p:spTree>
    <p:extLst>
      <p:ext uri="{BB962C8B-B14F-4D97-AF65-F5344CB8AC3E}">
        <p14:creationId xmlns:p14="http://schemas.microsoft.com/office/powerpoint/2010/main" val="3086124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p:cNvSpPr>
            <a:spLocks noGrp="1"/>
          </p:cNvSpPr>
          <p:nvPr>
            <p:ph type="dt" sz="half" idx="10"/>
          </p:nvPr>
        </p:nvSpPr>
        <p:spPr/>
        <p:txBody>
          <a:bodyPr/>
          <a:lstStyle/>
          <a:p>
            <a:fld id="{80B1D01F-863C-4B73-AC54-AFB6F8AF8771}" type="datetime1">
              <a:rPr lang="ru-RU" smtClean="0"/>
              <a:t>26.10.2026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93D2B9D-3E5A-4208-B841-6DCB29E9E020}" type="slidenum">
              <a:rPr lang="ru-RU" smtClean="0"/>
              <a:t>‹#›</a:t>
            </a:fld>
            <a:endParaRPr lang="ru-RU"/>
          </a:p>
        </p:txBody>
      </p:sp>
    </p:spTree>
    <p:extLst>
      <p:ext uri="{BB962C8B-B14F-4D97-AF65-F5344CB8AC3E}">
        <p14:creationId xmlns:p14="http://schemas.microsoft.com/office/powerpoint/2010/main" val="17206291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Объект 2"/>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p:cNvSpPr>
            <a:spLocks noGrp="1"/>
          </p:cNvSpPr>
          <p:nvPr>
            <p:ph type="dt" sz="half" idx="10"/>
          </p:nvPr>
        </p:nvSpPr>
        <p:spPr/>
        <p:txBody>
          <a:bodyPr/>
          <a:lstStyle/>
          <a:p>
            <a:fld id="{555CCFC5-B553-4F02-B48C-3389B3E31F91}" type="datetime1">
              <a:rPr lang="ru-RU" smtClean="0"/>
              <a:t>26.10.2026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93D2B9D-3E5A-4208-B841-6DCB29E9E020}" type="slidenum">
              <a:rPr lang="ru-RU" smtClean="0"/>
              <a:t>‹#›</a:t>
            </a:fld>
            <a:endParaRPr lang="ru-RU"/>
          </a:p>
        </p:txBody>
      </p:sp>
    </p:spTree>
    <p:extLst>
      <p:ext uri="{BB962C8B-B14F-4D97-AF65-F5344CB8AC3E}">
        <p14:creationId xmlns:p14="http://schemas.microsoft.com/office/powerpoint/2010/main" val="20848470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p:cNvSpPr>
            <a:spLocks noGrp="1"/>
          </p:cNvSpPr>
          <p:nvPr>
            <p:ph type="dt" sz="half" idx="10"/>
          </p:nvPr>
        </p:nvSpPr>
        <p:spPr/>
        <p:txBody>
          <a:bodyPr/>
          <a:lstStyle/>
          <a:p>
            <a:fld id="{F729C083-1D60-4C1E-892A-B512768125D7}" type="datetime1">
              <a:rPr lang="ru-RU" smtClean="0"/>
              <a:t>26.10.2026</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A93D2B9D-3E5A-4208-B841-6DCB29E9E020}" type="slidenum">
              <a:rPr lang="ru-RU" smtClean="0"/>
              <a:t>‹#›</a:t>
            </a:fld>
            <a:endParaRPr lang="ru-RU"/>
          </a:p>
        </p:txBody>
      </p:sp>
    </p:spTree>
    <p:extLst>
      <p:ext uri="{BB962C8B-B14F-4D97-AF65-F5344CB8AC3E}">
        <p14:creationId xmlns:p14="http://schemas.microsoft.com/office/powerpoint/2010/main" val="8449955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Дата 2"/>
          <p:cNvSpPr>
            <a:spLocks noGrp="1"/>
          </p:cNvSpPr>
          <p:nvPr>
            <p:ph type="dt" sz="half" idx="10"/>
          </p:nvPr>
        </p:nvSpPr>
        <p:spPr/>
        <p:txBody>
          <a:bodyPr/>
          <a:lstStyle/>
          <a:p>
            <a:fld id="{118FC138-E7BA-4AC9-88EA-6548305A1AE0}" type="datetime1">
              <a:rPr lang="ru-RU" smtClean="0"/>
              <a:t>26.10.2026</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A93D2B9D-3E5A-4208-B841-6DCB29E9E020}" type="slidenum">
              <a:rPr lang="ru-RU" smtClean="0"/>
              <a:t>‹#›</a:t>
            </a:fld>
            <a:endParaRPr lang="ru-RU"/>
          </a:p>
        </p:txBody>
      </p:sp>
    </p:spTree>
    <p:extLst>
      <p:ext uri="{BB962C8B-B14F-4D97-AF65-F5344CB8AC3E}">
        <p14:creationId xmlns:p14="http://schemas.microsoft.com/office/powerpoint/2010/main" val="8703548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5127F368-0454-4E3E-B811-65D7920E7A00}" type="datetime1">
              <a:rPr lang="ru-RU" smtClean="0"/>
              <a:t>26.10.2026</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A93D2B9D-3E5A-4208-B841-6DCB29E9E020}" type="slidenum">
              <a:rPr lang="ru-RU" smtClean="0"/>
              <a:t>‹#›</a:t>
            </a:fld>
            <a:endParaRPr lang="ru-RU"/>
          </a:p>
        </p:txBody>
      </p:sp>
    </p:spTree>
    <p:extLst>
      <p:ext uri="{BB962C8B-B14F-4D97-AF65-F5344CB8AC3E}">
        <p14:creationId xmlns:p14="http://schemas.microsoft.com/office/powerpoint/2010/main" val="253902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DE888E3F-F044-4CF9-8740-67EF25E77444}" type="datetime1">
              <a:rPr lang="ru-RU" smtClean="0"/>
              <a:t>26.10.2026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93D2B9D-3E5A-4208-B841-6DCB29E9E020}" type="slidenum">
              <a:rPr lang="ru-RU" smtClean="0"/>
              <a:t>‹#›</a:t>
            </a:fld>
            <a:endParaRPr lang="ru-RU"/>
          </a:p>
        </p:txBody>
      </p:sp>
    </p:spTree>
    <p:extLst>
      <p:ext uri="{BB962C8B-B14F-4D97-AF65-F5344CB8AC3E}">
        <p14:creationId xmlns:p14="http://schemas.microsoft.com/office/powerpoint/2010/main" val="1055771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p:cNvSpPr>
            <a:spLocks noGrp="1"/>
          </p:cNvSpPr>
          <p:nvPr>
            <p:ph type="dt" sz="half" idx="10"/>
          </p:nvPr>
        </p:nvSpPr>
        <p:spPr/>
        <p:txBody>
          <a:bodyPr/>
          <a:lstStyle/>
          <a:p>
            <a:fld id="{FC3A3761-CBF7-4D01-8375-1A6A2B4DD86F}" type="datetime1">
              <a:rPr lang="ru-RU" smtClean="0"/>
              <a:t>26.10.2026</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A93D2B9D-3E5A-4208-B841-6DCB29E9E020}" type="slidenum">
              <a:rPr lang="ru-RU" smtClean="0"/>
              <a:t>‹#›</a:t>
            </a:fld>
            <a:endParaRPr lang="ru-RU"/>
          </a:p>
        </p:txBody>
      </p:sp>
    </p:spTree>
    <p:extLst>
      <p:ext uri="{BB962C8B-B14F-4D97-AF65-F5344CB8AC3E}">
        <p14:creationId xmlns:p14="http://schemas.microsoft.com/office/powerpoint/2010/main" val="413233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a:t>Образец заголовка</a:t>
            </a:r>
          </a:p>
        </p:txBody>
      </p:sp>
      <p:sp>
        <p:nvSpPr>
          <p:cNvPr id="3" name="Вертикальный текст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98BED5A9-4DBA-47B9-8194-FDEF738E4669}" type="datetime1">
              <a:rPr lang="ru-RU" smtClean="0"/>
              <a:t>26.10.2026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93D2B9D-3E5A-4208-B841-6DCB29E9E020}" type="slidenum">
              <a:rPr lang="ru-RU" smtClean="0"/>
              <a:t>‹#›</a:t>
            </a:fld>
            <a:endParaRPr lang="ru-RU"/>
          </a:p>
        </p:txBody>
      </p:sp>
    </p:spTree>
    <p:extLst>
      <p:ext uri="{BB962C8B-B14F-4D97-AF65-F5344CB8AC3E}">
        <p14:creationId xmlns:p14="http://schemas.microsoft.com/office/powerpoint/2010/main" val="15827714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10"/>
          </p:nvPr>
        </p:nvSpPr>
        <p:spPr/>
        <p:txBody>
          <a:bodyPr/>
          <a:lstStyle/>
          <a:p>
            <a:fld id="{D1361B47-97FD-4EE6-8644-2D0CCBD0ABF0}" type="datetime1">
              <a:rPr lang="ru-RU" smtClean="0"/>
              <a:t>26.10.2026</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A93D2B9D-3E5A-4208-B841-6DCB29E9E020}" type="slidenum">
              <a:rPr lang="ru-RU" smtClean="0"/>
              <a:t>‹#›</a:t>
            </a:fld>
            <a:endParaRPr lang="ru-RU"/>
          </a:p>
        </p:txBody>
      </p:sp>
    </p:spTree>
    <p:extLst>
      <p:ext uri="{BB962C8B-B14F-4D97-AF65-F5344CB8AC3E}">
        <p14:creationId xmlns:p14="http://schemas.microsoft.com/office/powerpoint/2010/main" val="3364510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1000" b="-1000"/>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03308FB-D40B-40B6-9438-F3DDDC3FA85B}" type="datetime1">
              <a:rPr lang="ru-RU" smtClean="0"/>
              <a:t>26.10.2026</a:t>
            </a:fld>
            <a:endParaRPr lang="ru-RU"/>
          </a:p>
        </p:txBody>
      </p:sp>
      <p:sp>
        <p:nvSpPr>
          <p:cNvPr id="5" name="Нижний колонтитул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3D2B9D-3E5A-4208-B841-6DCB29E9E020}" type="slidenum">
              <a:rPr lang="ru-RU" smtClean="0"/>
              <a:t>‹#›</a:t>
            </a:fld>
            <a:endParaRPr lang="ru-RU"/>
          </a:p>
        </p:txBody>
      </p:sp>
    </p:spTree>
    <p:extLst>
      <p:ext uri="{BB962C8B-B14F-4D97-AF65-F5344CB8AC3E}">
        <p14:creationId xmlns:p14="http://schemas.microsoft.com/office/powerpoint/2010/main" val="38913770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8000" t="7000" r="1000" b="7000"/>
          </a:stretch>
        </a:blipFill>
        <a:effectLst/>
      </p:bgPr>
    </p:bg>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257694" y="1704110"/>
            <a:ext cx="6009756" cy="1458884"/>
          </a:xfrm>
        </p:spPr>
        <p:txBody>
          <a:bodyPr>
            <a:normAutofit fontScale="90000"/>
          </a:bodyPr>
          <a:lstStyle/>
          <a:p>
            <a:r>
              <a:rPr lang="ru-RU" sz="2800" dirty="0" err="1">
                <a:solidFill>
                  <a:schemeClr val="accent5">
                    <a:lumMod val="75000"/>
                  </a:schemeClr>
                </a:solidFill>
                <a:latin typeface="Arial Black" panose="020B0A04020102020204" pitchFamily="34" charset="0"/>
              </a:rPr>
              <a:t>Стеганографические</a:t>
            </a:r>
            <a:r>
              <a:rPr lang="ru-RU" sz="2800" dirty="0">
                <a:solidFill>
                  <a:schemeClr val="accent5">
                    <a:lumMod val="75000"/>
                  </a:schemeClr>
                </a:solidFill>
                <a:latin typeface="Arial Black" panose="020B0A04020102020204" pitchFamily="34" charset="0"/>
              </a:rPr>
              <a:t> методы защиты информации</a:t>
            </a:r>
            <a:br>
              <a:rPr lang="ru-RU" sz="2800" dirty="0">
                <a:solidFill>
                  <a:schemeClr val="accent5">
                    <a:lumMod val="75000"/>
                  </a:schemeClr>
                </a:solidFill>
                <a:latin typeface="Arial Black" panose="020B0A04020102020204" pitchFamily="34" charset="0"/>
              </a:rPr>
            </a:br>
            <a:r>
              <a:rPr lang="ru-RU" sz="2800" dirty="0">
                <a:solidFill>
                  <a:schemeClr val="accent5">
                    <a:lumMod val="75000"/>
                  </a:schemeClr>
                </a:solidFill>
                <a:latin typeface="Arial Black" panose="020B0A04020102020204" pitchFamily="34" charset="0"/>
              </a:rPr>
              <a:t>Задание 1</a:t>
            </a:r>
          </a:p>
        </p:txBody>
      </p:sp>
      <p:sp>
        <p:nvSpPr>
          <p:cNvPr id="3" name="Подзаголовок 2"/>
          <p:cNvSpPr>
            <a:spLocks noGrp="1"/>
          </p:cNvSpPr>
          <p:nvPr>
            <p:ph type="subTitle" idx="1"/>
          </p:nvPr>
        </p:nvSpPr>
        <p:spPr>
          <a:xfrm>
            <a:off x="349134" y="4157220"/>
            <a:ext cx="6268482" cy="2056543"/>
          </a:xfrm>
        </p:spPr>
        <p:txBody>
          <a:bodyPr>
            <a:normAutofit fontScale="62500" lnSpcReduction="20000"/>
          </a:bodyPr>
          <a:lstStyle/>
          <a:p>
            <a:pPr algn="l"/>
            <a:r>
              <a:rPr lang="ru-RU" dirty="0">
                <a:solidFill>
                  <a:schemeClr val="accent5">
                    <a:lumMod val="75000"/>
                  </a:schemeClr>
                </a:solidFill>
                <a:latin typeface="Arial" panose="020B0604020202020204" pitchFamily="34" charset="0"/>
                <a:cs typeface="Arial" panose="020B0604020202020204" pitchFamily="34" charset="0"/>
              </a:rPr>
              <a:t>Выполнили</a:t>
            </a:r>
            <a:r>
              <a:rPr lang="en-US" dirty="0">
                <a:solidFill>
                  <a:schemeClr val="accent5">
                    <a:lumMod val="75000"/>
                  </a:schemeClr>
                </a:solidFill>
                <a:latin typeface="Arial" panose="020B0604020202020204" pitchFamily="34" charset="0"/>
                <a:cs typeface="Arial" panose="020B0604020202020204" pitchFamily="34" charset="0"/>
              </a:rPr>
              <a:t>: </a:t>
            </a:r>
            <a:endParaRPr lang="ru-RU" dirty="0">
              <a:solidFill>
                <a:schemeClr val="accent5">
                  <a:lumMod val="75000"/>
                </a:schemeClr>
              </a:solidFill>
              <a:latin typeface="Arial" panose="020B0604020202020204" pitchFamily="34" charset="0"/>
              <a:cs typeface="Arial" panose="020B0604020202020204" pitchFamily="34" charset="0"/>
            </a:endParaRPr>
          </a:p>
          <a:p>
            <a:pPr algn="l"/>
            <a:r>
              <a:rPr lang="ru-RU" dirty="0">
                <a:solidFill>
                  <a:schemeClr val="accent5">
                    <a:lumMod val="75000"/>
                  </a:schemeClr>
                </a:solidFill>
                <a:latin typeface="Arial" panose="020B0604020202020204" pitchFamily="34" charset="0"/>
                <a:cs typeface="Arial" panose="020B0604020202020204" pitchFamily="34" charset="0"/>
              </a:rPr>
              <a:t>Лопатин Артём Алексеевич, ТКИ-441</a:t>
            </a:r>
          </a:p>
          <a:p>
            <a:pPr algn="l"/>
            <a:r>
              <a:rPr lang="ru-RU" dirty="0">
                <a:solidFill>
                  <a:schemeClr val="accent5">
                    <a:lumMod val="75000"/>
                  </a:schemeClr>
                </a:solidFill>
                <a:latin typeface="Arial" panose="020B0604020202020204" pitchFamily="34" charset="0"/>
                <a:cs typeface="Arial" panose="020B0604020202020204" pitchFamily="34" charset="0"/>
              </a:rPr>
              <a:t>Васильев Александр Сергеевич, ТКИ-441</a:t>
            </a:r>
          </a:p>
          <a:p>
            <a:pPr algn="l"/>
            <a:endParaRPr lang="ru-RU" dirty="0">
              <a:solidFill>
                <a:schemeClr val="accent5">
                  <a:lumMod val="75000"/>
                </a:schemeClr>
              </a:solidFill>
              <a:latin typeface="Arial" panose="020B0604020202020204" pitchFamily="34" charset="0"/>
              <a:cs typeface="Arial" panose="020B0604020202020204" pitchFamily="34" charset="0"/>
            </a:endParaRPr>
          </a:p>
          <a:p>
            <a:pPr algn="l"/>
            <a:r>
              <a:rPr lang="ru-RU" dirty="0">
                <a:solidFill>
                  <a:schemeClr val="accent5">
                    <a:lumMod val="75000"/>
                  </a:schemeClr>
                </a:solidFill>
                <a:latin typeface="Arial" panose="020B0604020202020204" pitchFamily="34" charset="0"/>
                <a:cs typeface="Arial" panose="020B0604020202020204" pitchFamily="34" charset="0"/>
              </a:rPr>
              <a:t>Проверили</a:t>
            </a:r>
            <a:r>
              <a:rPr lang="en-US" dirty="0">
                <a:solidFill>
                  <a:schemeClr val="accent5">
                    <a:lumMod val="75000"/>
                  </a:schemeClr>
                </a:solidFill>
                <a:latin typeface="Arial" panose="020B0604020202020204" pitchFamily="34" charset="0"/>
                <a:cs typeface="Arial" panose="020B0604020202020204" pitchFamily="34" charset="0"/>
              </a:rPr>
              <a:t>:</a:t>
            </a:r>
            <a:endParaRPr lang="ru-RU" dirty="0">
              <a:solidFill>
                <a:schemeClr val="accent5">
                  <a:lumMod val="75000"/>
                </a:schemeClr>
              </a:solidFill>
              <a:latin typeface="Arial" panose="020B0604020202020204" pitchFamily="34" charset="0"/>
              <a:cs typeface="Arial" panose="020B0604020202020204" pitchFamily="34" charset="0"/>
            </a:endParaRPr>
          </a:p>
          <a:p>
            <a:pPr algn="l"/>
            <a:r>
              <a:rPr lang="ru-RU" dirty="0">
                <a:solidFill>
                  <a:schemeClr val="accent5">
                    <a:lumMod val="75000"/>
                  </a:schemeClr>
                </a:solidFill>
                <a:latin typeface="Arial" panose="020B0604020202020204" pitchFamily="34" charset="0"/>
                <a:cs typeface="Arial" panose="020B0604020202020204" pitchFamily="34" charset="0"/>
              </a:rPr>
              <a:t>Профессор, д.т.н. Сидоренко Валентина Геннадьевна</a:t>
            </a:r>
          </a:p>
          <a:p>
            <a:pPr algn="l"/>
            <a:r>
              <a:rPr lang="ru-RU" dirty="0">
                <a:solidFill>
                  <a:schemeClr val="accent5">
                    <a:lumMod val="75000"/>
                  </a:schemeClr>
                </a:solidFill>
                <a:latin typeface="Arial" panose="020B0604020202020204" pitchFamily="34" charset="0"/>
                <a:cs typeface="Arial" panose="020B0604020202020204" pitchFamily="34" charset="0"/>
              </a:rPr>
              <a:t>Доцент, к.т.н.</a:t>
            </a:r>
            <a:r>
              <a:rPr lang="en-US" dirty="0">
                <a:solidFill>
                  <a:schemeClr val="accent5">
                    <a:lumMod val="75000"/>
                  </a:schemeClr>
                </a:solidFill>
                <a:latin typeface="Arial" panose="020B0604020202020204" pitchFamily="34" charset="0"/>
                <a:cs typeface="Arial" panose="020B0604020202020204" pitchFamily="34" charset="0"/>
              </a:rPr>
              <a:t> </a:t>
            </a:r>
            <a:r>
              <a:rPr lang="ru-RU" dirty="0">
                <a:solidFill>
                  <a:schemeClr val="accent5">
                    <a:lumMod val="75000"/>
                  </a:schemeClr>
                </a:solidFill>
                <a:latin typeface="Arial" panose="020B0604020202020204" pitchFamily="34" charset="0"/>
                <a:cs typeface="Arial" panose="020B0604020202020204" pitchFamily="34" charset="0"/>
              </a:rPr>
              <a:t>Сафронов Антон Игоревич </a:t>
            </a:r>
          </a:p>
        </p:txBody>
      </p:sp>
    </p:spTree>
    <p:extLst>
      <p:ext uri="{BB962C8B-B14F-4D97-AF65-F5344CB8AC3E}">
        <p14:creationId xmlns:p14="http://schemas.microsoft.com/office/powerpoint/2010/main" val="189063605"/>
      </p:ext>
    </p:extLst>
  </p:cSld>
  <p:clrMapOvr>
    <a:masterClrMapping/>
  </p:clrMapOvr>
  <p:transition spd="slow">
    <p:cove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2B31263-0838-4F69-9F5D-CC4B336788AF}"/>
              </a:ext>
            </a:extLst>
          </p:cNvPr>
          <p:cNvSpPr>
            <a:spLocks noGrp="1"/>
          </p:cNvSpPr>
          <p:nvPr>
            <p:ph type="title"/>
          </p:nvPr>
        </p:nvSpPr>
        <p:spPr>
          <a:xfrm>
            <a:off x="838200" y="365126"/>
            <a:ext cx="10515600" cy="565900"/>
          </a:xfrm>
        </p:spPr>
        <p:txBody>
          <a:bodyPr>
            <a:normAutofit fontScale="90000"/>
          </a:bodyPr>
          <a:lstStyle/>
          <a:p>
            <a:r>
              <a:rPr lang="ru-RU" dirty="0"/>
              <a:t>Оглавление</a:t>
            </a:r>
          </a:p>
        </p:txBody>
      </p:sp>
      <p:sp>
        <p:nvSpPr>
          <p:cNvPr id="3" name="Номер слайда 2">
            <a:extLst>
              <a:ext uri="{FF2B5EF4-FFF2-40B4-BE49-F238E27FC236}">
                <a16:creationId xmlns:a16="http://schemas.microsoft.com/office/drawing/2014/main" id="{86BA0D4A-8F98-4AA6-A0BD-6460A407923C}"/>
              </a:ext>
            </a:extLst>
          </p:cNvPr>
          <p:cNvSpPr>
            <a:spLocks noGrp="1"/>
          </p:cNvSpPr>
          <p:nvPr>
            <p:ph type="sldNum" sz="quarter" idx="12"/>
          </p:nvPr>
        </p:nvSpPr>
        <p:spPr/>
        <p:txBody>
          <a:bodyPr/>
          <a:lstStyle/>
          <a:p>
            <a:fld id="{A93D2B9D-3E5A-4208-B841-6DCB29E9E020}" type="slidenum">
              <a:rPr lang="ru-RU" smtClean="0"/>
              <a:t>2</a:t>
            </a:fld>
            <a:endParaRPr lang="ru-RU" dirty="0"/>
          </a:p>
        </p:txBody>
      </p:sp>
      <p:sp>
        <p:nvSpPr>
          <p:cNvPr id="65" name="Прямоугольник 64">
            <a:extLst>
              <a:ext uri="{FF2B5EF4-FFF2-40B4-BE49-F238E27FC236}">
                <a16:creationId xmlns:a16="http://schemas.microsoft.com/office/drawing/2014/main" id="{A3B6FDF4-3AB5-3181-DE51-BC9533573728}"/>
              </a:ext>
            </a:extLst>
          </p:cNvPr>
          <p:cNvSpPr/>
          <p:nvPr/>
        </p:nvSpPr>
        <p:spPr>
          <a:xfrm>
            <a:off x="838200" y="1308814"/>
            <a:ext cx="10139314" cy="5047536"/>
          </a:xfrm>
          <a:prstGeom prst="rect">
            <a:avLst/>
          </a:prstGeom>
          <a:noFill/>
        </p:spPr>
        <p:txBody>
          <a:bodyPr wrap="none" lIns="91440" tIns="45720" rIns="91440" bIns="45720">
            <a:spAutoFit/>
          </a:bodyPr>
          <a:lstStyle/>
          <a:p>
            <a:pPr marL="342900" indent="-342900">
              <a:buFont typeface="+mj-lt"/>
              <a:buAutoNum type="arabicPeriod"/>
            </a:pPr>
            <a:r>
              <a:rPr lang="ru-RU" sz="1500" dirty="0">
                <a:solidFill>
                  <a:schemeClr val="accent5">
                    <a:lumMod val="75000"/>
                  </a:schemeClr>
                </a:solidFill>
                <a:latin typeface="Arial Black" panose="020B0A04020102020204" pitchFamily="34" charset="0"/>
              </a:rPr>
              <a:t>Теория</a:t>
            </a:r>
          </a:p>
          <a:p>
            <a:pPr marL="342900" indent="-342900">
              <a:buFont typeface="+mj-lt"/>
              <a:buAutoNum type="arabicPeriod"/>
            </a:pPr>
            <a:r>
              <a:rPr lang="ru-RU" sz="1500" dirty="0">
                <a:solidFill>
                  <a:schemeClr val="accent5">
                    <a:lumMod val="75000"/>
                  </a:schemeClr>
                </a:solidFill>
                <a:latin typeface="Arial Black" panose="020B0A04020102020204" pitchFamily="34" charset="0"/>
              </a:rPr>
              <a:t>Пример теста оптимальной выборки (3000 точек)</a:t>
            </a:r>
          </a:p>
          <a:p>
            <a:pPr marL="342900" indent="-342900">
              <a:buFont typeface="+mj-lt"/>
              <a:buAutoNum type="arabicPeriod"/>
            </a:pPr>
            <a:r>
              <a:rPr lang="ru-RU" sz="1500" dirty="0">
                <a:solidFill>
                  <a:schemeClr val="accent5">
                    <a:lumMod val="75000"/>
                  </a:schemeClr>
                </a:solidFill>
                <a:latin typeface="Arial Black" panose="020B0A04020102020204" pitchFamily="34" charset="0"/>
              </a:rPr>
              <a:t>Пример плохого теста (3000 точек)</a:t>
            </a:r>
          </a:p>
          <a:p>
            <a:pPr marL="342900" indent="-342900">
              <a:buFont typeface="+mj-lt"/>
              <a:buAutoNum type="arabicPeriod"/>
            </a:pPr>
            <a:r>
              <a:rPr lang="ru-RU" sz="1500" dirty="0">
                <a:solidFill>
                  <a:schemeClr val="accent5">
                    <a:lumMod val="75000"/>
                  </a:schemeClr>
                </a:solidFill>
                <a:latin typeface="Arial Black" panose="020B0A04020102020204" pitchFamily="34" charset="0"/>
              </a:rPr>
              <a:t>Пример теста короткой выборки (1000 точек)</a:t>
            </a:r>
          </a:p>
          <a:p>
            <a:pPr marL="342900" indent="-342900">
              <a:buFont typeface="+mj-lt"/>
              <a:buAutoNum type="arabicPeriod"/>
            </a:pPr>
            <a:r>
              <a:rPr lang="ru-RU" sz="1500" dirty="0">
                <a:solidFill>
                  <a:schemeClr val="accent5">
                    <a:lumMod val="75000"/>
                  </a:schemeClr>
                </a:solidFill>
                <a:latin typeface="Arial Black" panose="020B0A04020102020204" pitchFamily="34" charset="0"/>
              </a:rPr>
              <a:t>Пример теста увеличенной выборки (10.000 точек)</a:t>
            </a:r>
          </a:p>
          <a:p>
            <a:pPr marL="342900" indent="-342900">
              <a:buFont typeface="+mj-lt"/>
              <a:buAutoNum type="arabicPeriod"/>
            </a:pPr>
            <a:r>
              <a:rPr lang="ru-RU" sz="1500" dirty="0">
                <a:solidFill>
                  <a:schemeClr val="accent5">
                    <a:lumMod val="75000"/>
                  </a:schemeClr>
                </a:solidFill>
                <a:latin typeface="Arial Black" panose="020B0A04020102020204" pitchFamily="34" charset="0"/>
              </a:rPr>
              <a:t>Пример теста большой выборки (100.000 точек)</a:t>
            </a:r>
          </a:p>
          <a:p>
            <a:pPr marL="342900" indent="-342900">
              <a:buFont typeface="+mj-lt"/>
              <a:buAutoNum type="arabicPeriod"/>
            </a:pPr>
            <a:r>
              <a:rPr lang="ru-RU" sz="1500" dirty="0">
                <a:solidFill>
                  <a:schemeClr val="accent5">
                    <a:lumMod val="75000"/>
                  </a:schemeClr>
                </a:solidFill>
                <a:latin typeface="Arial Black" panose="020B0A04020102020204" pitchFamily="34" charset="0"/>
              </a:rPr>
              <a:t>Пример теста очень большой выборки (1.000.000 точек)</a:t>
            </a:r>
          </a:p>
          <a:p>
            <a:pPr marL="342900" indent="-342900">
              <a:buFont typeface="+mj-lt"/>
              <a:buAutoNum type="arabicPeriod"/>
            </a:pPr>
            <a:r>
              <a:rPr lang="ru-RU" sz="1500" dirty="0">
                <a:solidFill>
                  <a:schemeClr val="accent5">
                    <a:lumMod val="75000"/>
                  </a:schemeClr>
                </a:solidFill>
                <a:latin typeface="Arial Black" panose="020B0A04020102020204" pitchFamily="34" charset="0"/>
              </a:rPr>
              <a:t>Тестирование (1000 точек)</a:t>
            </a:r>
          </a:p>
          <a:p>
            <a:pPr marL="342900" indent="-342900">
              <a:buFont typeface="+mj-lt"/>
              <a:buAutoNum type="arabicPeriod"/>
            </a:pPr>
            <a:r>
              <a:rPr lang="ru-RU" sz="1500" dirty="0">
                <a:solidFill>
                  <a:schemeClr val="accent5">
                    <a:lumMod val="75000"/>
                  </a:schemeClr>
                </a:solidFill>
                <a:latin typeface="Arial Black" panose="020B0A04020102020204" pitchFamily="34" charset="0"/>
              </a:rPr>
              <a:t>Тестирование (3000 точек)</a:t>
            </a:r>
          </a:p>
          <a:p>
            <a:pPr marL="342900" indent="-342900">
              <a:buFont typeface="+mj-lt"/>
              <a:buAutoNum type="arabicPeriod"/>
            </a:pPr>
            <a:r>
              <a:rPr lang="ru-RU" sz="1500" dirty="0">
                <a:solidFill>
                  <a:schemeClr val="accent5">
                    <a:lumMod val="75000"/>
                  </a:schemeClr>
                </a:solidFill>
                <a:latin typeface="Arial Black" panose="020B0A04020102020204" pitchFamily="34" charset="0"/>
              </a:rPr>
              <a:t>Тестирование (10.000 точек)</a:t>
            </a:r>
          </a:p>
          <a:p>
            <a:pPr marL="342900" indent="-342900">
              <a:buFont typeface="+mj-lt"/>
              <a:buAutoNum type="arabicPeriod"/>
            </a:pPr>
            <a:r>
              <a:rPr lang="ru-RU" sz="1500" dirty="0">
                <a:solidFill>
                  <a:schemeClr val="accent5">
                    <a:lumMod val="75000"/>
                  </a:schemeClr>
                </a:solidFill>
                <a:latin typeface="Arial Black" panose="020B0A04020102020204" pitchFamily="34" charset="0"/>
              </a:rPr>
              <a:t>Тестирование (100.000 точек)</a:t>
            </a:r>
          </a:p>
          <a:p>
            <a:pPr marL="342900" indent="-342900">
              <a:buFont typeface="+mj-lt"/>
              <a:buAutoNum type="arabicPeriod"/>
            </a:pPr>
            <a:r>
              <a:rPr lang="ru-RU" sz="1500" dirty="0">
                <a:solidFill>
                  <a:schemeClr val="accent5">
                    <a:lumMod val="75000"/>
                  </a:schemeClr>
                </a:solidFill>
                <a:latin typeface="Arial Black" panose="020B0A04020102020204" pitchFamily="34" charset="0"/>
              </a:rPr>
              <a:t>Тестирование (1.000.000 точек)</a:t>
            </a:r>
          </a:p>
          <a:p>
            <a:pPr marL="342900" indent="-342900">
              <a:buFont typeface="+mj-lt"/>
              <a:buAutoNum type="arabicPeriod"/>
            </a:pPr>
            <a:r>
              <a:rPr lang="ru-RU" sz="1500" dirty="0">
                <a:solidFill>
                  <a:schemeClr val="accent5">
                    <a:lumMod val="75000"/>
                  </a:schemeClr>
                </a:solidFill>
                <a:latin typeface="Arial Black" panose="020B0A04020102020204" pitchFamily="34" charset="0"/>
              </a:rPr>
              <a:t>Тестирование плохих (3000 точек)</a:t>
            </a:r>
          </a:p>
          <a:p>
            <a:pPr marL="342900" indent="-342900">
              <a:buFont typeface="+mj-lt"/>
              <a:buAutoNum type="arabicPeriod"/>
            </a:pPr>
            <a:r>
              <a:rPr lang="ru-RU" sz="1500" dirty="0">
                <a:solidFill>
                  <a:schemeClr val="accent5">
                    <a:lumMod val="75000"/>
                  </a:schemeClr>
                </a:solidFill>
                <a:latin typeface="Arial Black" panose="020B0A04020102020204" pitchFamily="34" charset="0"/>
              </a:rPr>
              <a:t>Вывод по тестам</a:t>
            </a:r>
          </a:p>
          <a:p>
            <a:pPr marL="342900" indent="-342900">
              <a:buFont typeface="+mj-lt"/>
              <a:buAutoNum type="arabicPeriod"/>
            </a:pPr>
            <a:r>
              <a:rPr lang="ru-RU" sz="1500" dirty="0">
                <a:solidFill>
                  <a:schemeClr val="accent5">
                    <a:lumMod val="75000"/>
                  </a:schemeClr>
                </a:solidFill>
                <a:latin typeface="Arial Black" panose="020B0A04020102020204" pitchFamily="34" charset="0"/>
              </a:rPr>
              <a:t>Сводная таблица результатов тестирования ГПСЧ</a:t>
            </a:r>
          </a:p>
          <a:p>
            <a:pPr marL="342900" indent="-342900">
              <a:buFont typeface="+mj-lt"/>
              <a:buAutoNum type="arabicPeriod"/>
            </a:pPr>
            <a:r>
              <a:rPr lang="ru-RU" sz="1500" dirty="0">
                <a:solidFill>
                  <a:schemeClr val="accent5">
                    <a:lumMod val="75000"/>
                  </a:schemeClr>
                </a:solidFill>
                <a:latin typeface="Arial Black" panose="020B0A04020102020204" pitchFamily="34" charset="0"/>
              </a:rPr>
              <a:t>Вывод</a:t>
            </a:r>
          </a:p>
        </p:txBody>
      </p:sp>
    </p:spTree>
    <p:extLst>
      <p:ext uri="{BB962C8B-B14F-4D97-AF65-F5344CB8AC3E}">
        <p14:creationId xmlns:p14="http://schemas.microsoft.com/office/powerpoint/2010/main" val="3562417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1748" y="288335"/>
            <a:ext cx="7951870" cy="640714"/>
          </a:xfrm>
        </p:spPr>
        <p:txBody>
          <a:bodyPr>
            <a:normAutofit/>
          </a:bodyPr>
          <a:lstStyle/>
          <a:p>
            <a:r>
              <a:rPr lang="ru-RU" sz="2400" dirty="0">
                <a:solidFill>
                  <a:schemeClr val="accent5">
                    <a:lumMod val="75000"/>
                  </a:schemeClr>
                </a:solidFill>
                <a:latin typeface="Arial Black" panose="020B0A04020102020204" pitchFamily="34" charset="0"/>
              </a:rPr>
              <a:t>Теория</a:t>
            </a:r>
          </a:p>
        </p:txBody>
      </p:sp>
      <p:sp>
        <p:nvSpPr>
          <p:cNvPr id="3" name="Номер слайда 2">
            <a:extLst>
              <a:ext uri="{FF2B5EF4-FFF2-40B4-BE49-F238E27FC236}">
                <a16:creationId xmlns:a16="http://schemas.microsoft.com/office/drawing/2014/main" id="{6F237C0C-FAB0-47B1-AB02-A0E18D5E2A8C}"/>
              </a:ext>
            </a:extLst>
          </p:cNvPr>
          <p:cNvSpPr>
            <a:spLocks noGrp="1"/>
          </p:cNvSpPr>
          <p:nvPr>
            <p:ph type="sldNum" sz="quarter" idx="12"/>
          </p:nvPr>
        </p:nvSpPr>
        <p:spPr/>
        <p:txBody>
          <a:bodyPr/>
          <a:lstStyle/>
          <a:p>
            <a:fld id="{A93D2B9D-3E5A-4208-B841-6DCB29E9E020}" type="slidenum">
              <a:rPr lang="ru-RU" smtClean="0"/>
              <a:t>3</a:t>
            </a:fld>
            <a:endParaRPr lang="ru-RU"/>
          </a:p>
        </p:txBody>
      </p:sp>
      <p:sp>
        <p:nvSpPr>
          <p:cNvPr id="5" name="TextBox 4">
            <a:extLst>
              <a:ext uri="{FF2B5EF4-FFF2-40B4-BE49-F238E27FC236}">
                <a16:creationId xmlns:a16="http://schemas.microsoft.com/office/drawing/2014/main" id="{640D0B26-743E-4A76-ADE8-78FCC97ACB90}"/>
              </a:ext>
            </a:extLst>
          </p:cNvPr>
          <p:cNvSpPr txBox="1"/>
          <p:nvPr/>
        </p:nvSpPr>
        <p:spPr>
          <a:xfrm>
            <a:off x="562427" y="1746979"/>
            <a:ext cx="11067146" cy="369332"/>
          </a:xfrm>
          <a:prstGeom prst="rect">
            <a:avLst/>
          </a:prstGeom>
          <a:noFill/>
        </p:spPr>
        <p:txBody>
          <a:bodyPr wrap="square" rtlCol="0">
            <a:spAutoFit/>
          </a:bodyPr>
          <a:lstStyle/>
          <a:p>
            <a:r>
              <a:rPr lang="ru-RU" b="1" dirty="0">
                <a:latin typeface="Times New Roman" panose="02020603050405020304" pitchFamily="18" charset="0"/>
                <a:cs typeface="Times New Roman" panose="02020603050405020304" pitchFamily="18" charset="0"/>
              </a:rPr>
              <a:t>	</a:t>
            </a:r>
            <a:endParaRPr lang="ru-RU" dirty="0">
              <a:latin typeface="Times New Roman" panose="02020603050405020304" pitchFamily="18" charset="0"/>
              <a:cs typeface="Times New Roman" panose="02020603050405020304" pitchFamily="18" charset="0"/>
            </a:endParaRPr>
          </a:p>
        </p:txBody>
      </p:sp>
      <p:sp>
        <p:nvSpPr>
          <p:cNvPr id="8" name="Rectangle 2">
            <a:extLst>
              <a:ext uri="{FF2B5EF4-FFF2-40B4-BE49-F238E27FC236}">
                <a16:creationId xmlns:a16="http://schemas.microsoft.com/office/drawing/2014/main" id="{3D654A47-71C9-ED38-5070-803F0E1F5CC9}"/>
              </a:ext>
            </a:extLst>
          </p:cNvPr>
          <p:cNvSpPr>
            <a:spLocks noChangeArrowheads="1"/>
          </p:cNvSpPr>
          <p:nvPr/>
        </p:nvSpPr>
        <p:spPr bwMode="auto">
          <a:xfrm>
            <a:off x="151748" y="1651007"/>
            <a:ext cx="1188850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ru-RU" sz="1600" b="1" dirty="0">
                <a:solidFill>
                  <a:schemeClr val="tx1"/>
                </a:solidFill>
              </a:rPr>
              <a:t>Суть генератора «Стоп-Пошёл»: </a:t>
            </a:r>
            <a:r>
              <a:rPr lang="ru-RU" sz="1600" dirty="0">
                <a:solidFill>
                  <a:schemeClr val="tx1"/>
                </a:solidFill>
              </a:rPr>
              <a:t>генератор использует два линейных регистра сдвига с обратной связью (ЛРОС). Один регистр служит управляющим: его выход определяет, будет ли сдвигаться второй регистр на данном такте.</a:t>
            </a:r>
          </a:p>
          <a:p>
            <a:pPr marL="0" marR="0" lvl="0" indent="0" algn="l" defTabSz="914400" rtl="0" eaLnBrk="0" fontAlgn="base" latinLnBrk="0" hangingPunct="0">
              <a:lnSpc>
                <a:spcPct val="100000"/>
              </a:lnSpc>
              <a:spcBef>
                <a:spcPct val="0"/>
              </a:spcBef>
              <a:spcAft>
                <a:spcPct val="0"/>
              </a:spcAft>
              <a:buClrTx/>
              <a:buSzTx/>
              <a:tabLst/>
            </a:pPr>
            <a:r>
              <a:rPr lang="ru-RU" sz="1600" b="1" dirty="0">
                <a:solidFill>
                  <a:schemeClr val="tx1"/>
                </a:solidFill>
              </a:rPr>
              <a:t>Принцип работы: </a:t>
            </a:r>
            <a:r>
              <a:rPr lang="ru-RU" sz="1600" dirty="0">
                <a:solidFill>
                  <a:schemeClr val="tx1"/>
                </a:solidFill>
              </a:rPr>
              <a:t>если на предыдущем такте управляющий бит был равен 1, второй регистр выполняет сдвиг и выдаёт выходной бит. Если управляющий бит был равен 0, второй регистр не сдвигается и ждёт следующего управляющего сигнала.</a:t>
            </a:r>
          </a:p>
          <a:p>
            <a:pPr marL="0" marR="0" lvl="0" indent="0" algn="l" defTabSz="914400" rtl="0" eaLnBrk="0" fontAlgn="base" latinLnBrk="0" hangingPunct="0">
              <a:lnSpc>
                <a:spcPct val="100000"/>
              </a:lnSpc>
              <a:spcBef>
                <a:spcPct val="0"/>
              </a:spcBef>
              <a:spcAft>
                <a:spcPct val="0"/>
              </a:spcAft>
              <a:buClrTx/>
              <a:buSzTx/>
              <a:tabLst/>
            </a:pPr>
            <a:r>
              <a:rPr lang="ru-RU" sz="1600" b="1" dirty="0">
                <a:solidFill>
                  <a:schemeClr val="tx1"/>
                </a:solidFill>
              </a:rPr>
              <a:t>Параметры: </a:t>
            </a:r>
            <a:r>
              <a:rPr lang="ru-RU" sz="1600" dirty="0">
                <a:solidFill>
                  <a:schemeClr val="tx1"/>
                </a:solidFill>
              </a:rPr>
              <a:t>для каждого регистра задаются начальное состояние, длина и влияющие биты (отводы обратной связи) — разряды, которые складываются по модулю 2 и дают новый бит регистра.</a:t>
            </a:r>
          </a:p>
          <a:p>
            <a:pPr marL="0" marR="0" lvl="0" indent="0" algn="l" defTabSz="914400" rtl="0" eaLnBrk="0" fontAlgn="base" latinLnBrk="0" hangingPunct="0">
              <a:lnSpc>
                <a:spcPct val="100000"/>
              </a:lnSpc>
              <a:spcBef>
                <a:spcPct val="0"/>
              </a:spcBef>
              <a:spcAft>
                <a:spcPct val="0"/>
              </a:spcAft>
              <a:buClrTx/>
              <a:buSzTx/>
              <a:tabLst/>
            </a:pPr>
            <a:r>
              <a:rPr lang="ru-RU" sz="1600" b="1" dirty="0">
                <a:solidFill>
                  <a:schemeClr val="tx1"/>
                </a:solidFill>
              </a:rPr>
              <a:t>Период: </a:t>
            </a:r>
            <a:r>
              <a:rPr lang="ru-RU" sz="1600" dirty="0">
                <a:solidFill>
                  <a:schemeClr val="tx1"/>
                </a:solidFill>
              </a:rPr>
              <a:t>период ЛРОС длины n не превышает 2ⁿ − 1 и достигается только при удачных влияющих битах; при неудачных регистр быстро зацикливается, и последовательность начинает повторяться.</a:t>
            </a:r>
          </a:p>
        </p:txBody>
      </p:sp>
    </p:spTree>
    <p:extLst>
      <p:ext uri="{BB962C8B-B14F-4D97-AF65-F5344CB8AC3E}">
        <p14:creationId xmlns:p14="http://schemas.microsoft.com/office/powerpoint/2010/main" val="2894690529"/>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1748" y="288334"/>
            <a:ext cx="7091263" cy="946907"/>
          </a:xfrm>
        </p:spPr>
        <p:txBody>
          <a:bodyPr>
            <a:normAutofit/>
          </a:bodyPr>
          <a:lstStyle/>
          <a:p>
            <a:r>
              <a:rPr lang="ru-RU" sz="2400" dirty="0">
                <a:solidFill>
                  <a:schemeClr val="accent5">
                    <a:lumMod val="75000"/>
                  </a:schemeClr>
                </a:solidFill>
                <a:latin typeface="Arial Black" panose="020B0A04020102020204" pitchFamily="34" charset="0"/>
              </a:rPr>
              <a:t>Пример теста оптимальной выборки</a:t>
            </a:r>
            <a:br>
              <a:rPr lang="ru-RU" sz="2400" dirty="0">
                <a:solidFill>
                  <a:schemeClr val="accent5">
                    <a:lumMod val="75000"/>
                  </a:schemeClr>
                </a:solidFill>
                <a:latin typeface="Arial Black" panose="020B0A04020102020204" pitchFamily="34" charset="0"/>
              </a:rPr>
            </a:br>
            <a:r>
              <a:rPr lang="ru-RU" sz="2400" dirty="0">
                <a:solidFill>
                  <a:schemeClr val="accent5">
                    <a:lumMod val="75000"/>
                  </a:schemeClr>
                </a:solidFill>
                <a:latin typeface="Arial Black" panose="020B0A04020102020204" pitchFamily="34" charset="0"/>
              </a:rPr>
              <a:t>(3000 точек)</a:t>
            </a:r>
          </a:p>
        </p:txBody>
      </p:sp>
      <p:sp>
        <p:nvSpPr>
          <p:cNvPr id="3" name="Номер слайда 2">
            <a:extLst>
              <a:ext uri="{FF2B5EF4-FFF2-40B4-BE49-F238E27FC236}">
                <a16:creationId xmlns:a16="http://schemas.microsoft.com/office/drawing/2014/main" id="{6F237C0C-FAB0-47B1-AB02-A0E18D5E2A8C}"/>
              </a:ext>
            </a:extLst>
          </p:cNvPr>
          <p:cNvSpPr>
            <a:spLocks noGrp="1"/>
          </p:cNvSpPr>
          <p:nvPr>
            <p:ph type="sldNum" sz="quarter" idx="12"/>
          </p:nvPr>
        </p:nvSpPr>
        <p:spPr/>
        <p:txBody>
          <a:bodyPr/>
          <a:lstStyle/>
          <a:p>
            <a:fld id="{A93D2B9D-3E5A-4208-B841-6DCB29E9E020}" type="slidenum">
              <a:rPr lang="ru-RU" smtClean="0"/>
              <a:t>4</a:t>
            </a:fld>
            <a:endParaRPr lang="ru-RU"/>
          </a:p>
        </p:txBody>
      </p:sp>
      <p:sp>
        <p:nvSpPr>
          <p:cNvPr id="7" name="TextBox 6">
            <a:extLst>
              <a:ext uri="{FF2B5EF4-FFF2-40B4-BE49-F238E27FC236}">
                <a16:creationId xmlns:a16="http://schemas.microsoft.com/office/drawing/2014/main" id="{F51309BF-B0D5-4974-B604-9B62F386F5C0}"/>
              </a:ext>
            </a:extLst>
          </p:cNvPr>
          <p:cNvSpPr txBox="1"/>
          <p:nvPr/>
        </p:nvSpPr>
        <p:spPr>
          <a:xfrm>
            <a:off x="8064137" y="1796613"/>
            <a:ext cx="4014651" cy="3970318"/>
          </a:xfrm>
          <a:prstGeom prst="rect">
            <a:avLst/>
          </a:prstGeom>
          <a:noFill/>
        </p:spPr>
        <p:txBody>
          <a:bodyPr wrap="square" rtlCol="0">
            <a:spAutoFit/>
          </a:bodyPr>
          <a:lstStyle/>
          <a:p>
            <a:r>
              <a:rPr lang="ru-RU" dirty="0"/>
              <a:t>Параметры</a:t>
            </a:r>
          </a:p>
          <a:p>
            <a:r>
              <a:rPr lang="ru-RU" dirty="0"/>
              <a:t>Число = 3000</a:t>
            </a:r>
          </a:p>
          <a:p>
            <a:r>
              <a:rPr lang="ru-RU" b="1" dirty="0"/>
              <a:t>ЛРОС1:</a:t>
            </a:r>
          </a:p>
          <a:p>
            <a:r>
              <a:rPr lang="ru-RU" dirty="0"/>
              <a:t>Состояние -</a:t>
            </a:r>
            <a:r>
              <a:rPr lang="en-US" dirty="0"/>
              <a:t>00000000000000000000000011110000</a:t>
            </a:r>
            <a:endParaRPr lang="en-US" sz="2000" dirty="0"/>
          </a:p>
          <a:p>
            <a:r>
              <a:rPr lang="ru-RU" dirty="0"/>
              <a:t>Длина = 32</a:t>
            </a:r>
          </a:p>
          <a:p>
            <a:r>
              <a:rPr lang="ru-RU" dirty="0"/>
              <a:t>Влияющие биты – 1, 14, 32</a:t>
            </a:r>
            <a:endParaRPr lang="en-US" dirty="0"/>
          </a:p>
          <a:p>
            <a:r>
              <a:rPr lang="ru-RU" b="1" dirty="0"/>
              <a:t>ЛРОС2:</a:t>
            </a:r>
            <a:br>
              <a:rPr lang="en-US" dirty="0"/>
            </a:br>
            <a:r>
              <a:rPr lang="ru-RU" dirty="0"/>
              <a:t>Состояние -</a:t>
            </a:r>
            <a:r>
              <a:rPr lang="en-US" dirty="0"/>
              <a:t>00000000000000000000000001011110</a:t>
            </a:r>
            <a:r>
              <a:rPr lang="ru-RU" dirty="0"/>
              <a:t>Длина = 32</a:t>
            </a:r>
          </a:p>
          <a:p>
            <a:r>
              <a:rPr lang="ru-RU" dirty="0"/>
              <a:t>Влияющие биты – 1, 19, 32</a:t>
            </a:r>
            <a:endParaRPr lang="en-US" dirty="0"/>
          </a:p>
          <a:p>
            <a:endParaRPr lang="ru-RU" dirty="0"/>
          </a:p>
          <a:p>
            <a:endParaRPr lang="ru-RU" dirty="0"/>
          </a:p>
        </p:txBody>
      </p:sp>
      <p:pic>
        <p:nvPicPr>
          <p:cNvPr id="9" name="Рисунок 8">
            <a:extLst>
              <a:ext uri="{FF2B5EF4-FFF2-40B4-BE49-F238E27FC236}">
                <a16:creationId xmlns:a16="http://schemas.microsoft.com/office/drawing/2014/main" id="{30FC913E-1DAC-167A-66A6-5D81ED55425D}"/>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80986" y="1468818"/>
            <a:ext cx="7184916" cy="4209171"/>
          </a:xfrm>
          <a:prstGeom prst="rect">
            <a:avLst/>
          </a:prstGeom>
        </p:spPr>
      </p:pic>
      <p:sp>
        <p:nvSpPr>
          <p:cNvPr id="10" name="Вывод"/>
          <p:cNvSpPr txBox="1"/>
          <p:nvPr/>
        </p:nvSpPr>
        <p:spPr>
          <a:xfrm>
            <a:off x="485603" y="5820000"/>
            <a:ext cx="11100000" cy="600000"/>
          </a:xfrm>
          <a:prstGeom prst="rect">
            <a:avLst/>
          </a:prstGeom>
          <a:noFill/>
        </p:spPr>
        <p:txBody>
          <a:bodyPr wrap="square" rtlCol="0">
            <a:spAutoFit/>
          </a:bodyPr>
          <a:lstStyle/>
          <a:p>
            <a:r>
              <a:rPr lang="ru-RU" sz="1400" b="1" dirty="0">
                <a:effectLst/>
                <a:latin typeface="+mn-lt"/>
              </a:rPr>
              <a:t>Вывод: </a:t>
            </a:r>
            <a:r>
              <a:rPr lang="ru-RU" sz="1400" i="1" dirty="0">
                <a:effectLst/>
                <a:latin typeface="+mn-lt"/>
              </a:rPr>
              <a:t>максимум АКФ 0,0679 (лаг 48) немного превышает 95 % доверительный интервал ±0,036; значения близки к нулю, пиков на лаге периода нет.</a:t>
            </a:r>
          </a:p>
        </p:txBody>
      </p:sp>
    </p:spTree>
    <p:extLst>
      <p:ext uri="{BB962C8B-B14F-4D97-AF65-F5344CB8AC3E}">
        <p14:creationId xmlns:p14="http://schemas.microsoft.com/office/powerpoint/2010/main" val="2191470758"/>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1748" y="288335"/>
            <a:ext cx="7951870" cy="640714"/>
          </a:xfrm>
        </p:spPr>
        <p:txBody>
          <a:bodyPr>
            <a:normAutofit/>
          </a:bodyPr>
          <a:lstStyle/>
          <a:p>
            <a:r>
              <a:rPr lang="ru-RU" sz="2400" dirty="0">
                <a:solidFill>
                  <a:schemeClr val="accent5">
                    <a:lumMod val="75000"/>
                  </a:schemeClr>
                </a:solidFill>
                <a:latin typeface="Arial Black" panose="020B0A04020102020204" pitchFamily="34" charset="0"/>
              </a:rPr>
              <a:t>Пример плохого теста (3000 точек)</a:t>
            </a:r>
          </a:p>
        </p:txBody>
      </p:sp>
      <p:sp>
        <p:nvSpPr>
          <p:cNvPr id="3" name="Номер слайда 2">
            <a:extLst>
              <a:ext uri="{FF2B5EF4-FFF2-40B4-BE49-F238E27FC236}">
                <a16:creationId xmlns:a16="http://schemas.microsoft.com/office/drawing/2014/main" id="{6F237C0C-FAB0-47B1-AB02-A0E18D5E2A8C}"/>
              </a:ext>
            </a:extLst>
          </p:cNvPr>
          <p:cNvSpPr>
            <a:spLocks noGrp="1"/>
          </p:cNvSpPr>
          <p:nvPr>
            <p:ph type="sldNum" sz="quarter" idx="12"/>
          </p:nvPr>
        </p:nvSpPr>
        <p:spPr/>
        <p:txBody>
          <a:bodyPr/>
          <a:lstStyle/>
          <a:p>
            <a:fld id="{A93D2B9D-3E5A-4208-B841-6DCB29E9E020}" type="slidenum">
              <a:rPr lang="ru-RU" smtClean="0"/>
              <a:t>5</a:t>
            </a:fld>
            <a:endParaRPr lang="ru-RU"/>
          </a:p>
        </p:txBody>
      </p:sp>
      <p:pic>
        <p:nvPicPr>
          <p:cNvPr id="7" name="Рисунок 6">
            <a:extLst>
              <a:ext uri="{FF2B5EF4-FFF2-40B4-BE49-F238E27FC236}">
                <a16:creationId xmlns:a16="http://schemas.microsoft.com/office/drawing/2014/main" id="{A9B423C1-3930-F03F-AC3E-1169990D0A4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99985" y="1233592"/>
            <a:ext cx="7303896" cy="4287642"/>
          </a:xfrm>
          <a:prstGeom prst="rect">
            <a:avLst/>
          </a:prstGeom>
        </p:spPr>
      </p:pic>
      <p:sp>
        <p:nvSpPr>
          <p:cNvPr id="8" name="TextBox 7">
            <a:extLst>
              <a:ext uri="{FF2B5EF4-FFF2-40B4-BE49-F238E27FC236}">
                <a16:creationId xmlns:a16="http://schemas.microsoft.com/office/drawing/2014/main" id="{DF32E32C-EC85-1CED-DCB6-4964D154ABD5}"/>
              </a:ext>
            </a:extLst>
          </p:cNvPr>
          <p:cNvSpPr txBox="1"/>
          <p:nvPr/>
        </p:nvSpPr>
        <p:spPr>
          <a:xfrm>
            <a:off x="485603" y="5820000"/>
            <a:ext cx="11100000" cy="600000"/>
          </a:xfrm>
          <a:prstGeom prst="rect">
            <a:avLst/>
          </a:prstGeom>
          <a:noFill/>
        </p:spPr>
        <p:txBody>
          <a:bodyPr wrap="square" rtlCol="0">
            <a:spAutoFit/>
          </a:bodyPr>
          <a:lstStyle/>
          <a:p>
            <a:r>
              <a:rPr lang="ru-RU" sz="1400" b="1" dirty="0">
                <a:effectLst/>
                <a:latin typeface="+mn-lt"/>
              </a:rPr>
              <a:t>Вывод: </a:t>
            </a:r>
            <a:r>
              <a:rPr lang="ru-RU" sz="1400" i="1" dirty="0">
                <a:effectLst/>
                <a:latin typeface="+mn-lt"/>
              </a:rPr>
              <a:t>при влияющих битах (1, 3, 9) максимум АКФ равен 0,7584 на лаге 249 (интервал ±0,036); на графике повторяющиеся пики на кратных лагах (≈ 249, 498, 747) — последовательность периодична, повтор примерно каждые 250 чисел.</a:t>
            </a:r>
          </a:p>
        </p:txBody>
      </p:sp>
      <p:sp>
        <p:nvSpPr>
          <p:cNvPr id="5" name="TextBox 4">
            <a:extLst>
              <a:ext uri="{FF2B5EF4-FFF2-40B4-BE49-F238E27FC236}">
                <a16:creationId xmlns:a16="http://schemas.microsoft.com/office/drawing/2014/main" id="{CDF5820E-B30E-C487-9590-01C401462345}"/>
              </a:ext>
            </a:extLst>
          </p:cNvPr>
          <p:cNvSpPr txBox="1"/>
          <p:nvPr/>
        </p:nvSpPr>
        <p:spPr>
          <a:xfrm>
            <a:off x="8064137" y="1796613"/>
            <a:ext cx="4014651" cy="3970318"/>
          </a:xfrm>
          <a:prstGeom prst="rect">
            <a:avLst/>
          </a:prstGeom>
          <a:noFill/>
        </p:spPr>
        <p:txBody>
          <a:bodyPr wrap="square" rtlCol="0">
            <a:spAutoFit/>
          </a:bodyPr>
          <a:lstStyle/>
          <a:p>
            <a:r>
              <a:rPr lang="ru-RU" dirty="0"/>
              <a:t>Параметры</a:t>
            </a:r>
          </a:p>
          <a:p>
            <a:r>
              <a:rPr lang="ru-RU" dirty="0"/>
              <a:t>Число = 3000</a:t>
            </a:r>
          </a:p>
          <a:p>
            <a:r>
              <a:rPr lang="ru-RU" b="1" dirty="0"/>
              <a:t>ЛРОС1:</a:t>
            </a:r>
          </a:p>
          <a:p>
            <a:r>
              <a:rPr lang="ru-RU" dirty="0"/>
              <a:t>Состояние -</a:t>
            </a:r>
            <a:r>
              <a:rPr lang="en-US" dirty="0"/>
              <a:t>00000000000000000000000011110000</a:t>
            </a:r>
            <a:endParaRPr lang="en-US" sz="2000" dirty="0"/>
          </a:p>
          <a:p>
            <a:r>
              <a:rPr lang="ru-RU" dirty="0"/>
              <a:t>Длина = 32</a:t>
            </a:r>
          </a:p>
          <a:p>
            <a:r>
              <a:rPr lang="ru-RU" dirty="0"/>
              <a:t>Влияющие биты – 1, 3, 9</a:t>
            </a:r>
            <a:endParaRPr lang="en-US" dirty="0"/>
          </a:p>
          <a:p>
            <a:r>
              <a:rPr lang="ru-RU" b="1" dirty="0"/>
              <a:t>ЛРОС2:</a:t>
            </a:r>
            <a:br>
              <a:rPr lang="en-US" dirty="0"/>
            </a:br>
            <a:r>
              <a:rPr lang="ru-RU" dirty="0"/>
              <a:t>Состояние -</a:t>
            </a:r>
            <a:r>
              <a:rPr lang="en-US" dirty="0"/>
              <a:t>00000000000000000000000001011110</a:t>
            </a:r>
            <a:r>
              <a:rPr lang="ru-RU" dirty="0"/>
              <a:t>Длина = 32</a:t>
            </a:r>
          </a:p>
          <a:p>
            <a:r>
              <a:rPr lang="ru-RU" dirty="0"/>
              <a:t>Влияющие биты – 1, 3, 9</a:t>
            </a:r>
            <a:endParaRPr lang="en-US" dirty="0"/>
          </a:p>
          <a:p>
            <a:endParaRPr lang="ru-RU" dirty="0"/>
          </a:p>
          <a:p>
            <a:endParaRPr lang="ru-RU" dirty="0"/>
          </a:p>
        </p:txBody>
      </p:sp>
    </p:spTree>
    <p:extLst>
      <p:ext uri="{BB962C8B-B14F-4D97-AF65-F5344CB8AC3E}">
        <p14:creationId xmlns:p14="http://schemas.microsoft.com/office/powerpoint/2010/main" val="2540470557"/>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10184" y="421338"/>
            <a:ext cx="7487648" cy="640714"/>
          </a:xfrm>
        </p:spPr>
        <p:txBody>
          <a:bodyPr>
            <a:normAutofit fontScale="90000"/>
          </a:bodyPr>
          <a:lstStyle/>
          <a:p>
            <a:r>
              <a:rPr lang="ru-RU" sz="2400" dirty="0">
                <a:solidFill>
                  <a:schemeClr val="accent5">
                    <a:lumMod val="75000"/>
                  </a:schemeClr>
                </a:solidFill>
                <a:latin typeface="Arial Black" panose="020B0A04020102020204" pitchFamily="34" charset="0"/>
              </a:rPr>
              <a:t>Пример теста короткой выборки</a:t>
            </a:r>
            <a:br>
              <a:rPr lang="ru-RU" sz="2400" dirty="0">
                <a:solidFill>
                  <a:schemeClr val="accent5">
                    <a:lumMod val="75000"/>
                  </a:schemeClr>
                </a:solidFill>
                <a:latin typeface="Arial Black" panose="020B0A04020102020204" pitchFamily="34" charset="0"/>
              </a:rPr>
            </a:br>
            <a:r>
              <a:rPr lang="ru-RU" sz="2400" dirty="0">
                <a:solidFill>
                  <a:schemeClr val="accent5">
                    <a:lumMod val="75000"/>
                  </a:schemeClr>
                </a:solidFill>
                <a:latin typeface="Arial Black" panose="020B0A04020102020204" pitchFamily="34" charset="0"/>
              </a:rPr>
              <a:t>(1000 точек)</a:t>
            </a:r>
          </a:p>
        </p:txBody>
      </p:sp>
      <p:sp>
        <p:nvSpPr>
          <p:cNvPr id="3" name="Номер слайда 2">
            <a:extLst>
              <a:ext uri="{FF2B5EF4-FFF2-40B4-BE49-F238E27FC236}">
                <a16:creationId xmlns:a16="http://schemas.microsoft.com/office/drawing/2014/main" id="{6F237C0C-FAB0-47B1-AB02-A0E18D5E2A8C}"/>
              </a:ext>
            </a:extLst>
          </p:cNvPr>
          <p:cNvSpPr>
            <a:spLocks noGrp="1"/>
          </p:cNvSpPr>
          <p:nvPr>
            <p:ph type="sldNum" sz="quarter" idx="12"/>
          </p:nvPr>
        </p:nvSpPr>
        <p:spPr/>
        <p:txBody>
          <a:bodyPr/>
          <a:lstStyle/>
          <a:p>
            <a:fld id="{A93D2B9D-3E5A-4208-B841-6DCB29E9E020}" type="slidenum">
              <a:rPr lang="ru-RU" smtClean="0"/>
              <a:t>6</a:t>
            </a:fld>
            <a:endParaRPr lang="ru-RU"/>
          </a:p>
        </p:txBody>
      </p:sp>
      <p:pic>
        <p:nvPicPr>
          <p:cNvPr id="7" name="Рисунок 6">
            <a:extLst>
              <a:ext uri="{FF2B5EF4-FFF2-40B4-BE49-F238E27FC236}">
                <a16:creationId xmlns:a16="http://schemas.microsoft.com/office/drawing/2014/main" id="{43754E41-FA83-C39A-AB64-0E27D71C411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762617" y="1224103"/>
            <a:ext cx="7296457" cy="4288423"/>
          </a:xfrm>
          <a:prstGeom prst="rect">
            <a:avLst/>
          </a:prstGeom>
        </p:spPr>
      </p:pic>
      <p:sp>
        <p:nvSpPr>
          <p:cNvPr id="5" name="TextBox 4">
            <a:extLst>
              <a:ext uri="{FF2B5EF4-FFF2-40B4-BE49-F238E27FC236}">
                <a16:creationId xmlns:a16="http://schemas.microsoft.com/office/drawing/2014/main" id="{D88BF77E-6C43-1EB8-1F76-7C0BF1493867}"/>
              </a:ext>
            </a:extLst>
          </p:cNvPr>
          <p:cNvSpPr txBox="1"/>
          <p:nvPr/>
        </p:nvSpPr>
        <p:spPr>
          <a:xfrm>
            <a:off x="8064137" y="1796613"/>
            <a:ext cx="4014651" cy="3970318"/>
          </a:xfrm>
          <a:prstGeom prst="rect">
            <a:avLst/>
          </a:prstGeom>
          <a:noFill/>
        </p:spPr>
        <p:txBody>
          <a:bodyPr wrap="square" rtlCol="0">
            <a:spAutoFit/>
          </a:bodyPr>
          <a:lstStyle/>
          <a:p>
            <a:r>
              <a:rPr lang="ru-RU" dirty="0"/>
              <a:t>Параметры</a:t>
            </a:r>
          </a:p>
          <a:p>
            <a:r>
              <a:rPr lang="ru-RU" dirty="0"/>
              <a:t>Число = 1000</a:t>
            </a:r>
          </a:p>
          <a:p>
            <a:r>
              <a:rPr lang="ru-RU" b="1" dirty="0"/>
              <a:t>ЛРОС1:</a:t>
            </a:r>
          </a:p>
          <a:p>
            <a:r>
              <a:rPr lang="ru-RU" dirty="0"/>
              <a:t>Состояние -</a:t>
            </a:r>
            <a:r>
              <a:rPr lang="en-US" dirty="0"/>
              <a:t>00000000000000000000000011110000</a:t>
            </a:r>
            <a:endParaRPr lang="en-US" sz="2000" dirty="0"/>
          </a:p>
          <a:p>
            <a:r>
              <a:rPr lang="ru-RU" dirty="0"/>
              <a:t>Длина = 32</a:t>
            </a:r>
          </a:p>
          <a:p>
            <a:r>
              <a:rPr lang="ru-RU" dirty="0"/>
              <a:t>Влияющие биты – 1, 14, 32</a:t>
            </a:r>
            <a:endParaRPr lang="en-US" dirty="0"/>
          </a:p>
          <a:p>
            <a:r>
              <a:rPr lang="ru-RU" b="1" dirty="0"/>
              <a:t>ЛРОС2:</a:t>
            </a:r>
            <a:br>
              <a:rPr lang="en-US" dirty="0"/>
            </a:br>
            <a:r>
              <a:rPr lang="ru-RU" dirty="0"/>
              <a:t>Состояние -</a:t>
            </a:r>
            <a:r>
              <a:rPr lang="en-US" dirty="0"/>
              <a:t>00000000000000000000000001011110</a:t>
            </a:r>
            <a:r>
              <a:rPr lang="ru-RU" dirty="0"/>
              <a:t>Длина = 32</a:t>
            </a:r>
          </a:p>
          <a:p>
            <a:r>
              <a:rPr lang="ru-RU" dirty="0"/>
              <a:t>Влияющие биты – 1, 19, 32</a:t>
            </a:r>
            <a:endParaRPr lang="en-US" dirty="0"/>
          </a:p>
          <a:p>
            <a:endParaRPr lang="ru-RU" dirty="0"/>
          </a:p>
          <a:p>
            <a:endParaRPr lang="ru-RU" dirty="0"/>
          </a:p>
        </p:txBody>
      </p:sp>
      <p:sp>
        <p:nvSpPr>
          <p:cNvPr id="8" name="Вывод"/>
          <p:cNvSpPr txBox="1"/>
          <p:nvPr/>
        </p:nvSpPr>
        <p:spPr>
          <a:xfrm>
            <a:off x="485603" y="5820000"/>
            <a:ext cx="11100000" cy="600000"/>
          </a:xfrm>
          <a:prstGeom prst="rect">
            <a:avLst/>
          </a:prstGeom>
          <a:noFill/>
        </p:spPr>
        <p:txBody>
          <a:bodyPr wrap="square" rtlCol="0">
            <a:spAutoFit/>
          </a:bodyPr>
          <a:lstStyle/>
          <a:p>
            <a:r>
              <a:rPr lang="ru-RU" sz="1400" b="1" dirty="0">
                <a:effectLst/>
                <a:latin typeface="+mn-lt"/>
              </a:rPr>
              <a:t>Вывод: </a:t>
            </a:r>
            <a:r>
              <a:rPr lang="ru-RU" sz="1400" i="1" dirty="0">
                <a:effectLst/>
                <a:latin typeface="+mn-lt"/>
              </a:rPr>
              <a:t>максимум АКФ −0,0927 (лаг 159) при интервале ±0,062; значения близки к нулю, выраженных пиков нет.</a:t>
            </a:r>
          </a:p>
        </p:txBody>
      </p:sp>
    </p:spTree>
    <p:extLst>
      <p:ext uri="{BB962C8B-B14F-4D97-AF65-F5344CB8AC3E}">
        <p14:creationId xmlns:p14="http://schemas.microsoft.com/office/powerpoint/2010/main" val="2690130237"/>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55426-E074-2C6A-70CB-F663A1DAE055}"/>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801651-C5A3-E039-862B-03048BA82CDE}"/>
              </a:ext>
            </a:extLst>
          </p:cNvPr>
          <p:cNvSpPr>
            <a:spLocks noGrp="1"/>
          </p:cNvSpPr>
          <p:nvPr>
            <p:ph type="title"/>
          </p:nvPr>
        </p:nvSpPr>
        <p:spPr>
          <a:xfrm>
            <a:off x="110184" y="421338"/>
            <a:ext cx="7487648" cy="640714"/>
          </a:xfrm>
        </p:spPr>
        <p:txBody>
          <a:bodyPr>
            <a:normAutofit fontScale="90000"/>
          </a:bodyPr>
          <a:lstStyle/>
          <a:p>
            <a:r>
              <a:rPr lang="ru-RU" sz="2400" dirty="0">
                <a:solidFill>
                  <a:schemeClr val="accent5">
                    <a:lumMod val="75000"/>
                  </a:schemeClr>
                </a:solidFill>
                <a:latin typeface="Arial Black" panose="020B0A04020102020204" pitchFamily="34" charset="0"/>
              </a:rPr>
              <a:t>Пример теста увеличенной выборки</a:t>
            </a:r>
            <a:br>
              <a:rPr lang="ru-RU" sz="2400" dirty="0">
                <a:solidFill>
                  <a:schemeClr val="accent5">
                    <a:lumMod val="75000"/>
                  </a:schemeClr>
                </a:solidFill>
                <a:latin typeface="Arial Black" panose="020B0A04020102020204" pitchFamily="34" charset="0"/>
              </a:rPr>
            </a:br>
            <a:r>
              <a:rPr lang="ru-RU" sz="2400" dirty="0">
                <a:solidFill>
                  <a:schemeClr val="accent5">
                    <a:lumMod val="75000"/>
                  </a:schemeClr>
                </a:solidFill>
                <a:latin typeface="Arial Black" panose="020B0A04020102020204" pitchFamily="34" charset="0"/>
              </a:rPr>
              <a:t>(10.000 точек)</a:t>
            </a:r>
          </a:p>
        </p:txBody>
      </p:sp>
      <p:sp>
        <p:nvSpPr>
          <p:cNvPr id="3" name="Номер слайда 2">
            <a:extLst>
              <a:ext uri="{FF2B5EF4-FFF2-40B4-BE49-F238E27FC236}">
                <a16:creationId xmlns:a16="http://schemas.microsoft.com/office/drawing/2014/main" id="{4585D484-4E91-065D-970D-AC9BDCA04D97}"/>
              </a:ext>
            </a:extLst>
          </p:cNvPr>
          <p:cNvSpPr>
            <a:spLocks noGrp="1"/>
          </p:cNvSpPr>
          <p:nvPr>
            <p:ph type="sldNum" sz="quarter" idx="12"/>
          </p:nvPr>
        </p:nvSpPr>
        <p:spPr/>
        <p:txBody>
          <a:bodyPr/>
          <a:lstStyle/>
          <a:p>
            <a:fld id="{A93D2B9D-3E5A-4208-B841-6DCB29E9E020}" type="slidenum">
              <a:rPr lang="ru-RU" smtClean="0"/>
              <a:t>7</a:t>
            </a:fld>
            <a:endParaRPr lang="ru-RU"/>
          </a:p>
        </p:txBody>
      </p:sp>
      <p:pic>
        <p:nvPicPr>
          <p:cNvPr id="7" name="Рисунок 6">
            <a:extLst>
              <a:ext uri="{FF2B5EF4-FFF2-40B4-BE49-F238E27FC236}">
                <a16:creationId xmlns:a16="http://schemas.microsoft.com/office/drawing/2014/main" id="{11B5A951-9FEA-323F-AC9C-79174B9C93D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55087" y="1404850"/>
            <a:ext cx="6982493" cy="4098967"/>
          </a:xfrm>
          <a:prstGeom prst="rect">
            <a:avLst/>
          </a:prstGeom>
        </p:spPr>
      </p:pic>
      <p:sp>
        <p:nvSpPr>
          <p:cNvPr id="5" name="TextBox 4">
            <a:extLst>
              <a:ext uri="{FF2B5EF4-FFF2-40B4-BE49-F238E27FC236}">
                <a16:creationId xmlns:a16="http://schemas.microsoft.com/office/drawing/2014/main" id="{4D1C7CBC-2F08-9E9F-F157-782EC30AD119}"/>
              </a:ext>
            </a:extLst>
          </p:cNvPr>
          <p:cNvSpPr txBox="1"/>
          <p:nvPr/>
        </p:nvSpPr>
        <p:spPr>
          <a:xfrm>
            <a:off x="8064137" y="1796613"/>
            <a:ext cx="4014651" cy="3970318"/>
          </a:xfrm>
          <a:prstGeom prst="rect">
            <a:avLst/>
          </a:prstGeom>
          <a:noFill/>
        </p:spPr>
        <p:txBody>
          <a:bodyPr wrap="square" rtlCol="0">
            <a:spAutoFit/>
          </a:bodyPr>
          <a:lstStyle/>
          <a:p>
            <a:r>
              <a:rPr lang="ru-RU" dirty="0"/>
              <a:t>Параметры</a:t>
            </a:r>
          </a:p>
          <a:p>
            <a:r>
              <a:rPr lang="ru-RU" dirty="0"/>
              <a:t>Число = 10000</a:t>
            </a:r>
          </a:p>
          <a:p>
            <a:r>
              <a:rPr lang="ru-RU" b="1" dirty="0"/>
              <a:t>ЛРОС1:</a:t>
            </a:r>
          </a:p>
          <a:p>
            <a:r>
              <a:rPr lang="ru-RU" dirty="0"/>
              <a:t>Состояние -</a:t>
            </a:r>
            <a:r>
              <a:rPr lang="en-US" dirty="0"/>
              <a:t>00000000000000000000000011110000</a:t>
            </a:r>
            <a:endParaRPr lang="en-US" sz="2000" dirty="0"/>
          </a:p>
          <a:p>
            <a:r>
              <a:rPr lang="ru-RU" dirty="0"/>
              <a:t>Длина = 32</a:t>
            </a:r>
          </a:p>
          <a:p>
            <a:r>
              <a:rPr lang="ru-RU" dirty="0"/>
              <a:t>Влияющие биты – 1, 14, 32</a:t>
            </a:r>
            <a:endParaRPr lang="en-US" dirty="0"/>
          </a:p>
          <a:p>
            <a:r>
              <a:rPr lang="ru-RU" b="1" dirty="0"/>
              <a:t>ЛРОС2:</a:t>
            </a:r>
            <a:br>
              <a:rPr lang="en-US" dirty="0"/>
            </a:br>
            <a:r>
              <a:rPr lang="ru-RU" dirty="0"/>
              <a:t>Состояние -</a:t>
            </a:r>
            <a:r>
              <a:rPr lang="en-US" dirty="0"/>
              <a:t>00000000000000000000000001011110</a:t>
            </a:r>
            <a:r>
              <a:rPr lang="ru-RU" dirty="0"/>
              <a:t>Длина = 32</a:t>
            </a:r>
          </a:p>
          <a:p>
            <a:r>
              <a:rPr lang="ru-RU" dirty="0"/>
              <a:t>Влияющие биты – 1, 19, 32</a:t>
            </a:r>
            <a:endParaRPr lang="en-US" dirty="0"/>
          </a:p>
          <a:p>
            <a:endParaRPr lang="ru-RU" dirty="0"/>
          </a:p>
          <a:p>
            <a:endParaRPr lang="ru-RU" dirty="0"/>
          </a:p>
        </p:txBody>
      </p:sp>
      <p:sp>
        <p:nvSpPr>
          <p:cNvPr id="8" name="Вывод"/>
          <p:cNvSpPr txBox="1"/>
          <p:nvPr/>
        </p:nvSpPr>
        <p:spPr>
          <a:xfrm>
            <a:off x="485603" y="5820000"/>
            <a:ext cx="11100000" cy="600000"/>
          </a:xfrm>
          <a:prstGeom prst="rect">
            <a:avLst/>
          </a:prstGeom>
          <a:noFill/>
        </p:spPr>
        <p:txBody>
          <a:bodyPr wrap="square" rtlCol="0">
            <a:spAutoFit/>
          </a:bodyPr>
          <a:lstStyle/>
          <a:p>
            <a:r>
              <a:rPr lang="ru-RU" sz="1400" b="1" dirty="0">
                <a:effectLst/>
                <a:latin typeface="+mn-lt"/>
              </a:rPr>
              <a:t>Вывод: </a:t>
            </a:r>
            <a:r>
              <a:rPr lang="ru-RU" sz="1400" i="1" dirty="0">
                <a:effectLst/>
                <a:latin typeface="+mn-lt"/>
              </a:rPr>
              <a:t>максимум АКФ −0,0420 (лаг 88) при интервале ±0,020; пиков на лаге периода нет, повторов в пределах окна (5000 лагов) не видно.</a:t>
            </a:r>
          </a:p>
        </p:txBody>
      </p:sp>
    </p:spTree>
    <p:extLst>
      <p:ext uri="{BB962C8B-B14F-4D97-AF65-F5344CB8AC3E}">
        <p14:creationId xmlns:p14="http://schemas.microsoft.com/office/powerpoint/2010/main" val="1300746641"/>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059FD-F3B1-A97F-DC01-2D702CD3A85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255407-0B0C-248C-BFB9-791780DE971A}"/>
              </a:ext>
            </a:extLst>
          </p:cNvPr>
          <p:cNvSpPr>
            <a:spLocks noGrp="1"/>
          </p:cNvSpPr>
          <p:nvPr>
            <p:ph type="title"/>
          </p:nvPr>
        </p:nvSpPr>
        <p:spPr>
          <a:xfrm>
            <a:off x="110184" y="421338"/>
            <a:ext cx="7487648" cy="640714"/>
          </a:xfrm>
        </p:spPr>
        <p:txBody>
          <a:bodyPr>
            <a:normAutofit fontScale="90000"/>
          </a:bodyPr>
          <a:lstStyle/>
          <a:p>
            <a:r>
              <a:rPr lang="ru-RU" sz="2400" dirty="0">
                <a:solidFill>
                  <a:schemeClr val="accent5">
                    <a:lumMod val="75000"/>
                  </a:schemeClr>
                </a:solidFill>
                <a:latin typeface="Arial Black" panose="020B0A04020102020204" pitchFamily="34" charset="0"/>
              </a:rPr>
              <a:t>Пример теста большой выборки</a:t>
            </a:r>
            <a:br>
              <a:rPr lang="ru-RU" sz="2400" dirty="0">
                <a:solidFill>
                  <a:schemeClr val="accent5">
                    <a:lumMod val="75000"/>
                  </a:schemeClr>
                </a:solidFill>
                <a:latin typeface="Arial Black" panose="020B0A04020102020204" pitchFamily="34" charset="0"/>
              </a:rPr>
            </a:br>
            <a:r>
              <a:rPr lang="ru-RU" sz="2400" dirty="0">
                <a:solidFill>
                  <a:schemeClr val="accent5">
                    <a:lumMod val="75000"/>
                  </a:schemeClr>
                </a:solidFill>
                <a:latin typeface="Arial Black" panose="020B0A04020102020204" pitchFamily="34" charset="0"/>
              </a:rPr>
              <a:t>(100.000 точек)</a:t>
            </a:r>
          </a:p>
        </p:txBody>
      </p:sp>
      <p:sp>
        <p:nvSpPr>
          <p:cNvPr id="3" name="Номер слайда 2">
            <a:extLst>
              <a:ext uri="{FF2B5EF4-FFF2-40B4-BE49-F238E27FC236}">
                <a16:creationId xmlns:a16="http://schemas.microsoft.com/office/drawing/2014/main" id="{BCF5E6E7-6EB1-AAA8-7582-09DAAA0847E6}"/>
              </a:ext>
            </a:extLst>
          </p:cNvPr>
          <p:cNvSpPr>
            <a:spLocks noGrp="1"/>
          </p:cNvSpPr>
          <p:nvPr>
            <p:ph type="sldNum" sz="quarter" idx="12"/>
          </p:nvPr>
        </p:nvSpPr>
        <p:spPr/>
        <p:txBody>
          <a:bodyPr/>
          <a:lstStyle/>
          <a:p>
            <a:fld id="{A93D2B9D-3E5A-4208-B841-6DCB29E9E020}" type="slidenum">
              <a:rPr lang="ru-RU" smtClean="0"/>
              <a:t>8</a:t>
            </a:fld>
            <a:endParaRPr lang="ru-RU"/>
          </a:p>
        </p:txBody>
      </p:sp>
      <p:pic>
        <p:nvPicPr>
          <p:cNvPr id="7" name="Рисунок 6">
            <a:extLst>
              <a:ext uri="{FF2B5EF4-FFF2-40B4-BE49-F238E27FC236}">
                <a16:creationId xmlns:a16="http://schemas.microsoft.com/office/drawing/2014/main" id="{86C3FE06-3413-5610-B677-5C2A2164CED8}"/>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1041079" y="1368276"/>
            <a:ext cx="7001843" cy="4135542"/>
          </a:xfrm>
          <a:prstGeom prst="rect">
            <a:avLst/>
          </a:prstGeom>
        </p:spPr>
      </p:pic>
      <p:sp>
        <p:nvSpPr>
          <p:cNvPr id="5" name="TextBox 4">
            <a:extLst>
              <a:ext uri="{FF2B5EF4-FFF2-40B4-BE49-F238E27FC236}">
                <a16:creationId xmlns:a16="http://schemas.microsoft.com/office/drawing/2014/main" id="{BB5B0B93-84DE-3473-4A65-C92FB52324F6}"/>
              </a:ext>
            </a:extLst>
          </p:cNvPr>
          <p:cNvSpPr txBox="1"/>
          <p:nvPr/>
        </p:nvSpPr>
        <p:spPr>
          <a:xfrm>
            <a:off x="8064137" y="1796613"/>
            <a:ext cx="4014651" cy="3970318"/>
          </a:xfrm>
          <a:prstGeom prst="rect">
            <a:avLst/>
          </a:prstGeom>
          <a:noFill/>
        </p:spPr>
        <p:txBody>
          <a:bodyPr wrap="square" rtlCol="0">
            <a:spAutoFit/>
          </a:bodyPr>
          <a:lstStyle/>
          <a:p>
            <a:r>
              <a:rPr lang="ru-RU" dirty="0"/>
              <a:t>Параметры</a:t>
            </a:r>
          </a:p>
          <a:p>
            <a:r>
              <a:rPr lang="ru-RU" dirty="0"/>
              <a:t>Число = 100000</a:t>
            </a:r>
          </a:p>
          <a:p>
            <a:r>
              <a:rPr lang="ru-RU" b="1" dirty="0"/>
              <a:t>ЛРОС1:</a:t>
            </a:r>
          </a:p>
          <a:p>
            <a:r>
              <a:rPr lang="ru-RU" dirty="0"/>
              <a:t>Состояние -</a:t>
            </a:r>
            <a:r>
              <a:rPr lang="en-US" dirty="0"/>
              <a:t>00000000000000000000000011110000</a:t>
            </a:r>
            <a:endParaRPr lang="en-US" sz="2000" dirty="0"/>
          </a:p>
          <a:p>
            <a:r>
              <a:rPr lang="ru-RU" dirty="0"/>
              <a:t>Длина = 32</a:t>
            </a:r>
          </a:p>
          <a:p>
            <a:r>
              <a:rPr lang="ru-RU" dirty="0"/>
              <a:t>Влияющие биты – 1, 14, 32</a:t>
            </a:r>
            <a:endParaRPr lang="en-US" dirty="0"/>
          </a:p>
          <a:p>
            <a:r>
              <a:rPr lang="ru-RU" b="1" dirty="0"/>
              <a:t>ЛРОС2:</a:t>
            </a:r>
            <a:br>
              <a:rPr lang="en-US" dirty="0"/>
            </a:br>
            <a:r>
              <a:rPr lang="ru-RU" dirty="0"/>
              <a:t>Состояние -</a:t>
            </a:r>
            <a:r>
              <a:rPr lang="en-US" dirty="0"/>
              <a:t>00000000000000000000000001011110</a:t>
            </a:r>
            <a:r>
              <a:rPr lang="ru-RU" dirty="0"/>
              <a:t>Длина = 32</a:t>
            </a:r>
          </a:p>
          <a:p>
            <a:r>
              <a:rPr lang="ru-RU" dirty="0"/>
              <a:t>Влияющие биты – 1, 19, 32</a:t>
            </a:r>
            <a:endParaRPr lang="en-US" dirty="0"/>
          </a:p>
          <a:p>
            <a:endParaRPr lang="ru-RU" dirty="0"/>
          </a:p>
          <a:p>
            <a:endParaRPr lang="ru-RU" dirty="0"/>
          </a:p>
        </p:txBody>
      </p:sp>
      <p:sp>
        <p:nvSpPr>
          <p:cNvPr id="8" name="Вывод"/>
          <p:cNvSpPr txBox="1"/>
          <p:nvPr/>
        </p:nvSpPr>
        <p:spPr>
          <a:xfrm>
            <a:off x="485603" y="5820000"/>
            <a:ext cx="11100000" cy="600000"/>
          </a:xfrm>
          <a:prstGeom prst="rect">
            <a:avLst/>
          </a:prstGeom>
          <a:noFill/>
        </p:spPr>
        <p:txBody>
          <a:bodyPr wrap="square" rtlCol="0">
            <a:spAutoFit/>
          </a:bodyPr>
          <a:lstStyle/>
          <a:p>
            <a:r>
              <a:rPr lang="ru-RU" sz="1400" b="1" dirty="0">
                <a:effectLst/>
                <a:latin typeface="+mn-lt"/>
              </a:rPr>
              <a:t>Вывод: </a:t>
            </a:r>
            <a:r>
              <a:rPr lang="ru-RU" sz="1400" i="1" dirty="0">
                <a:effectLst/>
                <a:latin typeface="+mn-lt"/>
              </a:rPr>
              <a:t>окно АКФ — 10 000 лагов; максимум 0,0131 (лаг 2211) при интервале ±0,007 — это шум, пика, как у периодической последовательности, нет.</a:t>
            </a:r>
          </a:p>
        </p:txBody>
      </p:sp>
    </p:spTree>
    <p:extLst>
      <p:ext uri="{BB962C8B-B14F-4D97-AF65-F5344CB8AC3E}">
        <p14:creationId xmlns:p14="http://schemas.microsoft.com/office/powerpoint/2010/main" val="362295213"/>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059FD-F3B1-A97F-DC01-2D702CD3A856}"/>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32255407-0B0C-248C-BFB9-791780DE971A}"/>
              </a:ext>
            </a:extLst>
          </p:cNvPr>
          <p:cNvSpPr>
            <a:spLocks noGrp="1"/>
          </p:cNvSpPr>
          <p:nvPr>
            <p:ph type="title"/>
          </p:nvPr>
        </p:nvSpPr>
        <p:spPr>
          <a:xfrm>
            <a:off x="110184" y="421338"/>
            <a:ext cx="7487648" cy="640714"/>
          </a:xfrm>
        </p:spPr>
        <p:txBody>
          <a:bodyPr>
            <a:normAutofit fontScale="90000"/>
          </a:bodyPr>
          <a:lstStyle/>
          <a:p>
            <a:r>
              <a:rPr lang="ru-RU" sz="2400" dirty="0">
                <a:solidFill>
                  <a:schemeClr val="accent5">
                    <a:lumMod val="75000"/>
                  </a:schemeClr>
                </a:solidFill>
                <a:latin typeface="Arial Black" panose="020B0A04020102020204" pitchFamily="34" charset="0"/>
              </a:rPr>
              <a:t>Пример теста очень большой выборки</a:t>
            </a:r>
            <a:br>
              <a:rPr lang="ru-RU" sz="2400" dirty="0">
                <a:solidFill>
                  <a:schemeClr val="accent5">
                    <a:lumMod val="75000"/>
                  </a:schemeClr>
                </a:solidFill>
                <a:latin typeface="Arial Black" panose="020B0A04020102020204" pitchFamily="34" charset="0"/>
              </a:rPr>
            </a:br>
            <a:r>
              <a:rPr lang="ru-RU" sz="2400" dirty="0">
                <a:solidFill>
                  <a:schemeClr val="accent5">
                    <a:lumMod val="75000"/>
                  </a:schemeClr>
                </a:solidFill>
                <a:latin typeface="Arial Black" panose="020B0A04020102020204" pitchFamily="34" charset="0"/>
              </a:rPr>
              <a:t>(1.000.000 точек)</a:t>
            </a:r>
          </a:p>
        </p:txBody>
      </p:sp>
      <p:sp>
        <p:nvSpPr>
          <p:cNvPr id="3" name="Номер слайда 2">
            <a:extLst>
              <a:ext uri="{FF2B5EF4-FFF2-40B4-BE49-F238E27FC236}">
                <a16:creationId xmlns:a16="http://schemas.microsoft.com/office/drawing/2014/main" id="{BCF5E6E7-6EB1-AAA8-7582-09DAAA0847E6}"/>
              </a:ext>
            </a:extLst>
          </p:cNvPr>
          <p:cNvSpPr>
            <a:spLocks noGrp="1"/>
          </p:cNvSpPr>
          <p:nvPr>
            <p:ph type="sldNum" sz="quarter" idx="12"/>
          </p:nvPr>
        </p:nvSpPr>
        <p:spPr/>
        <p:txBody>
          <a:bodyPr/>
          <a:lstStyle/>
          <a:p>
            <a:fld id="{A93D2B9D-3E5A-4208-B841-6DCB29E9E020}" type="slidenum">
              <a:rPr lang="ru-RU" smtClean="0"/>
              <a:t>9</a:t>
            </a:fld>
            <a:endParaRPr lang="ru-RU"/>
          </a:p>
        </p:txBody>
      </p:sp>
      <p:pic>
        <p:nvPicPr>
          <p:cNvPr id="10" name="Рисунок 9">
            <a:extLst>
              <a:ext uri="{FF2B5EF4-FFF2-40B4-BE49-F238E27FC236}">
                <a16:creationId xmlns:a16="http://schemas.microsoft.com/office/drawing/2014/main" id="{EE8E8124-D1C3-BF54-8565-28AEAC92300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938011" y="1434223"/>
            <a:ext cx="6986789" cy="4091665"/>
          </a:xfrm>
          <a:prstGeom prst="rect">
            <a:avLst/>
          </a:prstGeom>
        </p:spPr>
      </p:pic>
      <p:sp>
        <p:nvSpPr>
          <p:cNvPr id="5" name="TextBox 4">
            <a:extLst>
              <a:ext uri="{FF2B5EF4-FFF2-40B4-BE49-F238E27FC236}">
                <a16:creationId xmlns:a16="http://schemas.microsoft.com/office/drawing/2014/main" id="{CECC1940-84CB-1D52-5CDB-4A7C7389E29B}"/>
              </a:ext>
            </a:extLst>
          </p:cNvPr>
          <p:cNvSpPr txBox="1"/>
          <p:nvPr/>
        </p:nvSpPr>
        <p:spPr>
          <a:xfrm>
            <a:off x="8064137" y="1796613"/>
            <a:ext cx="4014651" cy="3416320"/>
          </a:xfrm>
          <a:prstGeom prst="rect">
            <a:avLst/>
          </a:prstGeom>
          <a:noFill/>
        </p:spPr>
        <p:txBody>
          <a:bodyPr wrap="square" rtlCol="0">
            <a:spAutoFit/>
          </a:bodyPr>
          <a:lstStyle/>
          <a:p>
            <a:r>
              <a:rPr lang="ru-RU" dirty="0"/>
              <a:t>Параметры</a:t>
            </a:r>
          </a:p>
          <a:p>
            <a:r>
              <a:rPr lang="ru-RU" dirty="0"/>
              <a:t>Число = 1000000</a:t>
            </a:r>
          </a:p>
          <a:p>
            <a:r>
              <a:rPr lang="ru-RU" b="1" dirty="0"/>
              <a:t>ЛРОС1:</a:t>
            </a:r>
          </a:p>
          <a:p>
            <a:r>
              <a:rPr lang="ru-RU" dirty="0"/>
              <a:t>Состояние -</a:t>
            </a:r>
            <a:r>
              <a:rPr lang="en-US" dirty="0"/>
              <a:t>00000000000000000000000011110000</a:t>
            </a:r>
            <a:endParaRPr lang="en-US" sz="2000" dirty="0"/>
          </a:p>
          <a:p>
            <a:r>
              <a:rPr lang="ru-RU" dirty="0"/>
              <a:t>Длина = 32</a:t>
            </a:r>
          </a:p>
          <a:p>
            <a:r>
              <a:rPr lang="ru-RU" dirty="0"/>
              <a:t>Влияющие биты – 1, 14, 32</a:t>
            </a:r>
            <a:endParaRPr lang="en-US" dirty="0"/>
          </a:p>
          <a:p>
            <a:r>
              <a:rPr lang="ru-RU" b="1" dirty="0"/>
              <a:t>ЛРОС2:</a:t>
            </a:r>
            <a:br>
              <a:rPr lang="en-US" dirty="0"/>
            </a:br>
            <a:r>
              <a:rPr lang="ru-RU" dirty="0"/>
              <a:t>Состояние -</a:t>
            </a:r>
            <a:r>
              <a:rPr lang="en-US" dirty="0"/>
              <a:t>00000000000000000000000001011110</a:t>
            </a:r>
            <a:r>
              <a:rPr lang="ru-RU" dirty="0"/>
              <a:t>Длина = 32</a:t>
            </a:r>
          </a:p>
          <a:p>
            <a:r>
              <a:rPr lang="ru-RU" dirty="0"/>
              <a:t>Влияющие биты – 1, 19, 32</a:t>
            </a:r>
            <a:endParaRPr lang="en-US" dirty="0"/>
          </a:p>
        </p:txBody>
      </p:sp>
      <p:sp>
        <p:nvSpPr>
          <p:cNvPr id="11" name="Вывод"/>
          <p:cNvSpPr txBox="1"/>
          <p:nvPr/>
        </p:nvSpPr>
        <p:spPr>
          <a:xfrm>
            <a:off x="485603" y="5820000"/>
            <a:ext cx="11100000" cy="600000"/>
          </a:xfrm>
          <a:prstGeom prst="rect">
            <a:avLst/>
          </a:prstGeom>
          <a:noFill/>
        </p:spPr>
        <p:txBody>
          <a:bodyPr wrap="square" rtlCol="0">
            <a:spAutoFit/>
          </a:bodyPr>
          <a:lstStyle/>
          <a:p>
            <a:r>
              <a:rPr lang="ru-RU" sz="1400" b="1" dirty="0">
                <a:effectLst/>
                <a:latin typeface="+mn-lt"/>
              </a:rPr>
              <a:t>Вывод: </a:t>
            </a:r>
            <a:r>
              <a:rPr lang="ru-RU" sz="1400" i="1" dirty="0">
                <a:effectLst/>
                <a:latin typeface="+mn-lt"/>
              </a:rPr>
              <a:t>максимум АКФ 0,0096 (лаг 2328) при интервале ±0,005; пиков на лаге периода нет, повторов в пределах окна (10 000 лагов) не видно.</a:t>
            </a:r>
          </a:p>
        </p:txBody>
      </p:sp>
    </p:spTree>
    <p:extLst>
      <p:ext uri="{BB962C8B-B14F-4D97-AF65-F5344CB8AC3E}">
        <p14:creationId xmlns:p14="http://schemas.microsoft.com/office/powerpoint/2010/main" val="3113160593"/>
      </p:ext>
    </p:extLst>
  </p:cSld>
  <p:clrMapOvr>
    <a:masterClrMapping/>
  </p:clrMapOvr>
  <p:transition spd="slow">
    <p:cove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51748" y="288335"/>
            <a:ext cx="7951870" cy="640714"/>
          </a:xfrm>
        </p:spPr>
        <p:txBody>
          <a:bodyPr>
            <a:normAutofit/>
          </a:bodyPr>
          <a:lstStyle/>
          <a:p>
            <a:r>
              <a:rPr lang="ru-RU" sz="2400" dirty="0">
                <a:solidFill>
                  <a:schemeClr val="accent5">
                    <a:lumMod val="75000"/>
                  </a:schemeClr>
                </a:solidFill>
                <a:latin typeface="Arial Black" panose="020B0A04020102020204" pitchFamily="34" charset="0"/>
              </a:rPr>
              <a:t>Тестирование</a:t>
            </a:r>
            <a:r>
              <a:rPr lang="en-US" sz="2400" dirty="0">
                <a:solidFill>
                  <a:schemeClr val="accent5">
                    <a:lumMod val="75000"/>
                  </a:schemeClr>
                </a:solidFill>
                <a:latin typeface="Arial Black" panose="020B0A04020102020204" pitchFamily="34" charset="0"/>
              </a:rPr>
              <a:t> (1000</a:t>
            </a:r>
            <a:r>
              <a:rPr lang="ru-RU" sz="2400" dirty="0">
                <a:solidFill>
                  <a:schemeClr val="accent5">
                    <a:lumMod val="75000"/>
                  </a:schemeClr>
                </a:solidFill>
                <a:latin typeface="Arial Black" panose="020B0A04020102020204" pitchFamily="34" charset="0"/>
              </a:rPr>
              <a:t> точек) </a:t>
            </a:r>
          </a:p>
        </p:txBody>
      </p:sp>
      <p:sp>
        <p:nvSpPr>
          <p:cNvPr id="3" name="Номер слайда 2">
            <a:extLst>
              <a:ext uri="{FF2B5EF4-FFF2-40B4-BE49-F238E27FC236}">
                <a16:creationId xmlns:a16="http://schemas.microsoft.com/office/drawing/2014/main" id="{6F237C0C-FAB0-47B1-AB02-A0E18D5E2A8C}"/>
              </a:ext>
            </a:extLst>
          </p:cNvPr>
          <p:cNvSpPr>
            <a:spLocks noGrp="1"/>
          </p:cNvSpPr>
          <p:nvPr>
            <p:ph type="sldNum" sz="quarter" idx="12"/>
          </p:nvPr>
        </p:nvSpPr>
        <p:spPr/>
        <p:txBody>
          <a:bodyPr/>
          <a:lstStyle/>
          <a:p>
            <a:fld id="{A93D2B9D-3E5A-4208-B841-6DCB29E9E020}" type="slidenum">
              <a:rPr lang="ru-RU" smtClean="0"/>
              <a:t>10</a:t>
            </a:fld>
            <a:endParaRPr lang="ru-RU"/>
          </a:p>
        </p:txBody>
      </p:sp>
      <p:sp>
        <p:nvSpPr>
          <p:cNvPr id="11" name="TextBox 10">
            <a:extLst>
              <a:ext uri="{FF2B5EF4-FFF2-40B4-BE49-F238E27FC236}">
                <a16:creationId xmlns:a16="http://schemas.microsoft.com/office/drawing/2014/main" id="{B995FDF8-2A20-C8B6-A0E3-BE9F91B07B92}"/>
              </a:ext>
            </a:extLst>
          </p:cNvPr>
          <p:cNvSpPr txBox="1"/>
          <p:nvPr/>
        </p:nvSpPr>
        <p:spPr>
          <a:xfrm>
            <a:off x="7405724" y="1500000"/>
            <a:ext cx="4594276" cy="3900000"/>
          </a:xfrm>
          <a:prstGeom prst="rect">
            <a:avLst/>
          </a:prstGeom>
          <a:noFill/>
        </p:spPr>
        <p:txBody>
          <a:bodyPr wrap="square">
            <a:spAutoFit/>
          </a:bodyPr>
          <a:lstStyle/>
          <a:p>
            <a:pPr>
              <a:spcAft>
                <a:spcPts val="600"/>
              </a:spcAft>
            </a:pPr>
            <a:r>
              <a:rPr lang="ru-RU" sz="1400" dirty="0">
                <a:effectLst/>
                <a:latin typeface="+mn-lt"/>
              </a:rPr>
              <a:t>- Файл 1k.json: 1000 чисел × 32 бита = 32 000 бит.</a:t>
            </a:r>
          </a:p>
          <a:p>
            <a:pPr>
              <a:spcAft>
                <a:spcPts val="600"/>
              </a:spcAft>
            </a:pPr>
            <a:r>
              <a:rPr lang="ru-RU" sz="1400" dirty="0">
                <a:effectLst/>
                <a:latin typeface="+mn-lt"/>
              </a:rPr>
              <a:t>- Пройдено </a:t>
            </a:r>
            <a:r>
              <a:rPr lang="ru-RU" sz="1400" b="1" dirty="0">
                <a:effectLst/>
                <a:latin typeface="+mn-lt"/>
              </a:rPr>
              <a:t>4 из 13</a:t>
            </a:r>
            <a:r>
              <a:rPr lang="ru-RU" sz="1400" dirty="0">
                <a:effectLst/>
                <a:latin typeface="+mn-lt"/>
              </a:rPr>
              <a:t> (№ 1, 3, 6, 10): побитовый тест частот, максимальной серии, кумулятивные суммы, сжимаемость.</a:t>
            </a:r>
          </a:p>
          <a:p>
            <a:pPr>
              <a:spcAft>
                <a:spcPts val="600"/>
              </a:spcAft>
            </a:pPr>
            <a:r>
              <a:rPr lang="ru-RU" sz="1400" dirty="0">
                <a:effectLst/>
                <a:latin typeface="+mn-lt"/>
              </a:rPr>
              <a:t>- Тест рангов бинарных матриц не пройден: по пособию (п. 2.1.4) ему нужно не менее 38 912 бит, а в выборке 32 000 бит.</a:t>
            </a:r>
          </a:p>
        </p:txBody>
      </p:sp>
      <p:pic>
        <p:nvPicPr>
          <p:cNvPr id="5" name="Рисунок 4">
            <a:extLst>
              <a:ext uri="{FF2B5EF4-FFF2-40B4-BE49-F238E27FC236}">
                <a16:creationId xmlns:a16="http://schemas.microsoft.com/office/drawing/2014/main" id="{39678408-4C5A-1D9A-02B8-5D513417A15F}"/>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44467" y="1145051"/>
            <a:ext cx="6611257" cy="4567898"/>
          </a:xfrm>
          <a:prstGeom prst="rect">
            <a:avLst/>
          </a:prstGeom>
        </p:spPr>
      </p:pic>
    </p:spTree>
    <p:extLst>
      <p:ext uri="{BB962C8B-B14F-4D97-AF65-F5344CB8AC3E}">
        <p14:creationId xmlns:p14="http://schemas.microsoft.com/office/powerpoint/2010/main" val="2099915663"/>
      </p:ext>
    </p:extLst>
  </p:cSld>
  <p:clrMapOvr>
    <a:masterClrMapping/>
  </p:clrMapOvr>
  <p:transition spd="slow">
    <p:cove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9497B-C283-9A48-8A40-190311EE3441}"/>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7CFEDE-560C-ABCC-762A-42200A371D55}"/>
              </a:ext>
            </a:extLst>
          </p:cNvPr>
          <p:cNvSpPr>
            <a:spLocks noGrp="1"/>
          </p:cNvSpPr>
          <p:nvPr>
            <p:ph type="title"/>
          </p:nvPr>
        </p:nvSpPr>
        <p:spPr>
          <a:xfrm>
            <a:off x="151748" y="288335"/>
            <a:ext cx="7951870" cy="640714"/>
          </a:xfrm>
        </p:spPr>
        <p:txBody>
          <a:bodyPr>
            <a:normAutofit/>
          </a:bodyPr>
          <a:lstStyle/>
          <a:p>
            <a:r>
              <a:rPr lang="ru-RU" sz="2400" dirty="0">
                <a:solidFill>
                  <a:schemeClr val="accent5">
                    <a:lumMod val="75000"/>
                  </a:schemeClr>
                </a:solidFill>
                <a:latin typeface="Arial Black" panose="020B0A04020102020204" pitchFamily="34" charset="0"/>
              </a:rPr>
              <a:t>Тестирование</a:t>
            </a:r>
            <a:r>
              <a:rPr lang="en-US" sz="2400" dirty="0">
                <a:solidFill>
                  <a:schemeClr val="accent5">
                    <a:lumMod val="75000"/>
                  </a:schemeClr>
                </a:solidFill>
                <a:latin typeface="Arial Black" panose="020B0A04020102020204" pitchFamily="34" charset="0"/>
              </a:rPr>
              <a:t> (</a:t>
            </a:r>
            <a:r>
              <a:rPr lang="ru-RU" sz="2400" dirty="0">
                <a:solidFill>
                  <a:schemeClr val="accent5">
                    <a:lumMod val="75000"/>
                  </a:schemeClr>
                </a:solidFill>
                <a:latin typeface="Arial Black" panose="020B0A04020102020204" pitchFamily="34" charset="0"/>
              </a:rPr>
              <a:t>3</a:t>
            </a:r>
            <a:r>
              <a:rPr lang="en-US" sz="2400" dirty="0">
                <a:solidFill>
                  <a:schemeClr val="accent5">
                    <a:lumMod val="75000"/>
                  </a:schemeClr>
                </a:solidFill>
                <a:latin typeface="Arial Black" panose="020B0A04020102020204" pitchFamily="34" charset="0"/>
              </a:rPr>
              <a:t>000</a:t>
            </a:r>
            <a:r>
              <a:rPr lang="ru-RU" sz="2400" dirty="0">
                <a:solidFill>
                  <a:schemeClr val="accent5">
                    <a:lumMod val="75000"/>
                  </a:schemeClr>
                </a:solidFill>
                <a:latin typeface="Arial Black" panose="020B0A04020102020204" pitchFamily="34" charset="0"/>
              </a:rPr>
              <a:t> точек) </a:t>
            </a:r>
          </a:p>
        </p:txBody>
      </p:sp>
      <p:sp>
        <p:nvSpPr>
          <p:cNvPr id="3" name="Номер слайда 2">
            <a:extLst>
              <a:ext uri="{FF2B5EF4-FFF2-40B4-BE49-F238E27FC236}">
                <a16:creationId xmlns:a16="http://schemas.microsoft.com/office/drawing/2014/main" id="{3179814F-A15D-6EE5-A7EE-E785278ADB1D}"/>
              </a:ext>
            </a:extLst>
          </p:cNvPr>
          <p:cNvSpPr>
            <a:spLocks noGrp="1"/>
          </p:cNvSpPr>
          <p:nvPr>
            <p:ph type="sldNum" sz="quarter" idx="12"/>
          </p:nvPr>
        </p:nvSpPr>
        <p:spPr/>
        <p:txBody>
          <a:bodyPr/>
          <a:lstStyle/>
          <a:p>
            <a:fld id="{A93D2B9D-3E5A-4208-B841-6DCB29E9E020}" type="slidenum">
              <a:rPr lang="ru-RU" smtClean="0"/>
              <a:t>11</a:t>
            </a:fld>
            <a:endParaRPr lang="ru-RU"/>
          </a:p>
        </p:txBody>
      </p:sp>
      <p:sp>
        <p:nvSpPr>
          <p:cNvPr id="5" name="TextBox 4">
            <a:extLst>
              <a:ext uri="{FF2B5EF4-FFF2-40B4-BE49-F238E27FC236}">
                <a16:creationId xmlns:a16="http://schemas.microsoft.com/office/drawing/2014/main" id="{9EF622A7-59DA-FC09-E407-73A07E3F064B}"/>
              </a:ext>
            </a:extLst>
          </p:cNvPr>
          <p:cNvSpPr txBox="1"/>
          <p:nvPr/>
        </p:nvSpPr>
        <p:spPr>
          <a:xfrm>
            <a:off x="7610833" y="1500000"/>
            <a:ext cx="4389167" cy="3900000"/>
          </a:xfrm>
          <a:prstGeom prst="rect">
            <a:avLst/>
          </a:prstGeom>
          <a:noFill/>
        </p:spPr>
        <p:txBody>
          <a:bodyPr wrap="square">
            <a:spAutoFit/>
          </a:bodyPr>
          <a:lstStyle/>
          <a:p>
            <a:pPr>
              <a:spcAft>
                <a:spcPts val="600"/>
              </a:spcAft>
            </a:pPr>
            <a:r>
              <a:rPr lang="ru-RU" sz="1400" dirty="0">
                <a:effectLst/>
                <a:latin typeface="+mn-lt"/>
              </a:rPr>
              <a:t>- Файл 3kgood.json: 3000 чисел = 96 000 бит.</a:t>
            </a:r>
          </a:p>
          <a:p>
            <a:pPr>
              <a:spcAft>
                <a:spcPts val="600"/>
              </a:spcAft>
            </a:pPr>
            <a:r>
              <a:rPr lang="ru-RU" sz="1400" dirty="0">
                <a:effectLst/>
                <a:latin typeface="+mn-lt"/>
              </a:rPr>
              <a:t>- Пройдено </a:t>
            </a:r>
            <a:r>
              <a:rPr lang="ru-RU" sz="1400" b="1" dirty="0">
                <a:effectLst/>
                <a:latin typeface="+mn-lt"/>
              </a:rPr>
              <a:t>6 из 13</a:t>
            </a:r>
            <a:r>
              <a:rPr lang="ru-RU" sz="1400" dirty="0">
                <a:effectLst/>
                <a:latin typeface="+mn-lt"/>
              </a:rPr>
              <a:t> (№ 1, 3, 4, 5, 6, 10) — лучший результат серии. К четырём тестам с 1000 чисел добавились тест рангов матриц (данных теперь хватает: 96 000 &gt; 38 912 бит) и спектральный.</a:t>
            </a:r>
          </a:p>
          <a:p>
            <a:pPr>
              <a:spcAft>
                <a:spcPts val="600"/>
              </a:spcAft>
            </a:pPr>
            <a:r>
              <a:rPr lang="ru-RU" sz="1400" dirty="0">
                <a:effectLst/>
                <a:latin typeface="+mn-lt"/>
              </a:rPr>
              <a:t>- Не пройдены: блочный тест частот, серий, χ², автокорреляции, критерий G-цикла, энтропия Шеннона, «стопка книг».</a:t>
            </a:r>
          </a:p>
        </p:txBody>
      </p:sp>
      <p:pic>
        <p:nvPicPr>
          <p:cNvPr id="6" name="Рисунок 5">
            <a:extLst>
              <a:ext uri="{FF2B5EF4-FFF2-40B4-BE49-F238E27FC236}">
                <a16:creationId xmlns:a16="http://schemas.microsoft.com/office/drawing/2014/main" id="{F894F015-98AE-6927-89BC-250047078F6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03236" y="990600"/>
            <a:ext cx="7057597" cy="4876800"/>
          </a:xfrm>
          <a:prstGeom prst="rect">
            <a:avLst/>
          </a:prstGeom>
        </p:spPr>
      </p:pic>
    </p:spTree>
    <p:extLst>
      <p:ext uri="{BB962C8B-B14F-4D97-AF65-F5344CB8AC3E}">
        <p14:creationId xmlns:p14="http://schemas.microsoft.com/office/powerpoint/2010/main" val="3233538967"/>
      </p:ext>
    </p:extLst>
  </p:cSld>
  <p:clrMapOvr>
    <a:masterClrMapping/>
  </p:clrMapOvr>
  <p:transition spd="slow">
    <p:cove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B299D-DD3E-6635-8AFB-F20840EED0FF}"/>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FA9D3533-2350-0320-BF3C-72B70BAFD967}"/>
              </a:ext>
            </a:extLst>
          </p:cNvPr>
          <p:cNvSpPr>
            <a:spLocks noGrp="1"/>
          </p:cNvSpPr>
          <p:nvPr>
            <p:ph type="title"/>
          </p:nvPr>
        </p:nvSpPr>
        <p:spPr>
          <a:xfrm>
            <a:off x="151748" y="288335"/>
            <a:ext cx="7951870" cy="640714"/>
          </a:xfrm>
        </p:spPr>
        <p:txBody>
          <a:bodyPr>
            <a:normAutofit/>
          </a:bodyPr>
          <a:lstStyle/>
          <a:p>
            <a:r>
              <a:rPr lang="ru-RU" sz="2400" dirty="0">
                <a:solidFill>
                  <a:schemeClr val="accent5">
                    <a:lumMod val="75000"/>
                  </a:schemeClr>
                </a:solidFill>
                <a:latin typeface="Arial Black" panose="020B0A04020102020204" pitchFamily="34" charset="0"/>
              </a:rPr>
              <a:t>Тестирование</a:t>
            </a:r>
            <a:r>
              <a:rPr lang="en-US" sz="2400" dirty="0">
                <a:solidFill>
                  <a:schemeClr val="accent5">
                    <a:lumMod val="75000"/>
                  </a:schemeClr>
                </a:solidFill>
                <a:latin typeface="Arial Black" panose="020B0A04020102020204" pitchFamily="34" charset="0"/>
              </a:rPr>
              <a:t> (1</a:t>
            </a:r>
            <a:r>
              <a:rPr lang="ru-RU" sz="2400" dirty="0">
                <a:solidFill>
                  <a:schemeClr val="accent5">
                    <a:lumMod val="75000"/>
                  </a:schemeClr>
                </a:solidFill>
                <a:latin typeface="Arial Black" panose="020B0A04020102020204" pitchFamily="34" charset="0"/>
              </a:rPr>
              <a:t>0.</a:t>
            </a:r>
            <a:r>
              <a:rPr lang="en-US" sz="2400" dirty="0">
                <a:solidFill>
                  <a:schemeClr val="accent5">
                    <a:lumMod val="75000"/>
                  </a:schemeClr>
                </a:solidFill>
                <a:latin typeface="Arial Black" panose="020B0A04020102020204" pitchFamily="34" charset="0"/>
              </a:rPr>
              <a:t>000</a:t>
            </a:r>
            <a:r>
              <a:rPr lang="ru-RU" sz="2400" dirty="0">
                <a:solidFill>
                  <a:schemeClr val="accent5">
                    <a:lumMod val="75000"/>
                  </a:schemeClr>
                </a:solidFill>
                <a:latin typeface="Arial Black" panose="020B0A04020102020204" pitchFamily="34" charset="0"/>
              </a:rPr>
              <a:t> точек) </a:t>
            </a:r>
          </a:p>
        </p:txBody>
      </p:sp>
      <p:sp>
        <p:nvSpPr>
          <p:cNvPr id="3" name="Номер слайда 2">
            <a:extLst>
              <a:ext uri="{FF2B5EF4-FFF2-40B4-BE49-F238E27FC236}">
                <a16:creationId xmlns:a16="http://schemas.microsoft.com/office/drawing/2014/main" id="{4A286915-F640-FB5B-D973-26125F65C693}"/>
              </a:ext>
            </a:extLst>
          </p:cNvPr>
          <p:cNvSpPr>
            <a:spLocks noGrp="1"/>
          </p:cNvSpPr>
          <p:nvPr>
            <p:ph type="sldNum" sz="quarter" idx="12"/>
          </p:nvPr>
        </p:nvSpPr>
        <p:spPr/>
        <p:txBody>
          <a:bodyPr/>
          <a:lstStyle/>
          <a:p>
            <a:fld id="{A93D2B9D-3E5A-4208-B841-6DCB29E9E020}" type="slidenum">
              <a:rPr lang="ru-RU" smtClean="0"/>
              <a:t>12</a:t>
            </a:fld>
            <a:endParaRPr lang="ru-RU"/>
          </a:p>
        </p:txBody>
      </p:sp>
      <p:sp>
        <p:nvSpPr>
          <p:cNvPr id="8" name="TextBox 7">
            <a:extLst>
              <a:ext uri="{FF2B5EF4-FFF2-40B4-BE49-F238E27FC236}">
                <a16:creationId xmlns:a16="http://schemas.microsoft.com/office/drawing/2014/main" id="{353E19E3-19DA-7913-1C98-7611B8BCC533}"/>
              </a:ext>
            </a:extLst>
          </p:cNvPr>
          <p:cNvSpPr txBox="1"/>
          <p:nvPr/>
        </p:nvSpPr>
        <p:spPr>
          <a:xfrm>
            <a:off x="8235696" y="1500000"/>
            <a:ext cx="3764304" cy="3900000"/>
          </a:xfrm>
          <a:prstGeom prst="rect">
            <a:avLst/>
          </a:prstGeom>
          <a:noFill/>
        </p:spPr>
        <p:txBody>
          <a:bodyPr wrap="square">
            <a:spAutoFit/>
          </a:bodyPr>
          <a:lstStyle/>
          <a:p>
            <a:pPr>
              <a:spcAft>
                <a:spcPts val="600"/>
              </a:spcAft>
            </a:pPr>
            <a:r>
              <a:rPr lang="ru-RU" sz="1400" dirty="0">
                <a:effectLst/>
                <a:latin typeface="+mn-lt"/>
              </a:rPr>
              <a:t>- Файл 10k.json: 10 000 чисел = 320 000 бит.</a:t>
            </a:r>
          </a:p>
          <a:p>
            <a:pPr>
              <a:spcAft>
                <a:spcPts val="600"/>
              </a:spcAft>
            </a:pPr>
            <a:r>
              <a:rPr lang="ru-RU" sz="1400" dirty="0">
                <a:effectLst/>
                <a:latin typeface="+mn-lt"/>
              </a:rPr>
              <a:t>- Пройдено </a:t>
            </a:r>
            <a:r>
              <a:rPr lang="ru-RU" sz="1400" b="1" dirty="0">
                <a:effectLst/>
                <a:latin typeface="+mn-lt"/>
              </a:rPr>
              <a:t>4 из 13</a:t>
            </a:r>
            <a:r>
              <a:rPr lang="ru-RU" sz="1400" dirty="0">
                <a:effectLst/>
                <a:latin typeface="+mn-lt"/>
              </a:rPr>
              <a:t> (№ 3, 4, 6, 10). По сравнению с 3000 числами перестали проходиться побитовый тест частот и спектральный.</a:t>
            </a:r>
          </a:p>
          <a:p>
            <a:pPr>
              <a:spcAft>
                <a:spcPts val="600"/>
              </a:spcAft>
            </a:pPr>
            <a:r>
              <a:rPr lang="ru-RU" sz="1400" dirty="0">
                <a:effectLst/>
                <a:latin typeface="+mn-lt"/>
              </a:rPr>
              <a:t>- Зацикливания нет: на АКФ нет пиков на лаге периода (максимум −0,0420), поэтому смена результата не связана с повтором последовательности.</a:t>
            </a:r>
          </a:p>
        </p:txBody>
      </p:sp>
      <p:pic>
        <p:nvPicPr>
          <p:cNvPr id="6" name="Рисунок 5">
            <a:extLst>
              <a:ext uri="{FF2B5EF4-FFF2-40B4-BE49-F238E27FC236}">
                <a16:creationId xmlns:a16="http://schemas.microsoft.com/office/drawing/2014/main" id="{84D2F520-00EA-D0DD-BB40-C6CF82BA765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550071" y="993649"/>
            <a:ext cx="7535625" cy="5191542"/>
          </a:xfrm>
          <a:prstGeom prst="rect">
            <a:avLst/>
          </a:prstGeom>
        </p:spPr>
      </p:pic>
    </p:spTree>
    <p:extLst>
      <p:ext uri="{BB962C8B-B14F-4D97-AF65-F5344CB8AC3E}">
        <p14:creationId xmlns:p14="http://schemas.microsoft.com/office/powerpoint/2010/main" val="2099468457"/>
      </p:ext>
    </p:extLst>
  </p:cSld>
  <p:clrMapOvr>
    <a:masterClrMapping/>
  </p:clrMapOvr>
  <p:transition spd="slow">
    <p:cove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67DAC-538E-0216-C0BA-4326A0E496F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C1EA29-4E0F-55C4-8D83-DD4D223D36C0}"/>
              </a:ext>
            </a:extLst>
          </p:cNvPr>
          <p:cNvSpPr>
            <a:spLocks noGrp="1"/>
          </p:cNvSpPr>
          <p:nvPr>
            <p:ph type="title"/>
          </p:nvPr>
        </p:nvSpPr>
        <p:spPr>
          <a:xfrm>
            <a:off x="151748" y="288335"/>
            <a:ext cx="7951870" cy="640714"/>
          </a:xfrm>
        </p:spPr>
        <p:txBody>
          <a:bodyPr>
            <a:normAutofit/>
          </a:bodyPr>
          <a:lstStyle/>
          <a:p>
            <a:r>
              <a:rPr lang="ru-RU" sz="2400" dirty="0">
                <a:solidFill>
                  <a:schemeClr val="accent5">
                    <a:lumMod val="75000"/>
                  </a:schemeClr>
                </a:solidFill>
                <a:latin typeface="Arial Black" panose="020B0A04020102020204" pitchFamily="34" charset="0"/>
              </a:rPr>
              <a:t>Тестирование</a:t>
            </a:r>
            <a:r>
              <a:rPr lang="en-US" sz="2400" dirty="0">
                <a:solidFill>
                  <a:schemeClr val="accent5">
                    <a:lumMod val="75000"/>
                  </a:schemeClr>
                </a:solidFill>
                <a:latin typeface="Arial Black" panose="020B0A04020102020204" pitchFamily="34" charset="0"/>
              </a:rPr>
              <a:t> (1</a:t>
            </a:r>
            <a:r>
              <a:rPr lang="ru-RU" sz="2400" dirty="0">
                <a:solidFill>
                  <a:schemeClr val="accent5">
                    <a:lumMod val="75000"/>
                  </a:schemeClr>
                </a:solidFill>
                <a:latin typeface="Arial Black" panose="020B0A04020102020204" pitchFamily="34" charset="0"/>
              </a:rPr>
              <a:t>00.</a:t>
            </a:r>
            <a:r>
              <a:rPr lang="en-US" sz="2400" dirty="0">
                <a:solidFill>
                  <a:schemeClr val="accent5">
                    <a:lumMod val="75000"/>
                  </a:schemeClr>
                </a:solidFill>
                <a:latin typeface="Arial Black" panose="020B0A04020102020204" pitchFamily="34" charset="0"/>
              </a:rPr>
              <a:t>000</a:t>
            </a:r>
            <a:r>
              <a:rPr lang="ru-RU" sz="2400" dirty="0">
                <a:solidFill>
                  <a:schemeClr val="accent5">
                    <a:lumMod val="75000"/>
                  </a:schemeClr>
                </a:solidFill>
                <a:latin typeface="Arial Black" panose="020B0A04020102020204" pitchFamily="34" charset="0"/>
              </a:rPr>
              <a:t> точек) </a:t>
            </a:r>
          </a:p>
        </p:txBody>
      </p:sp>
      <p:sp>
        <p:nvSpPr>
          <p:cNvPr id="3" name="Номер слайда 2">
            <a:extLst>
              <a:ext uri="{FF2B5EF4-FFF2-40B4-BE49-F238E27FC236}">
                <a16:creationId xmlns:a16="http://schemas.microsoft.com/office/drawing/2014/main" id="{1350533E-FDC9-C620-DC4B-F998F4C7956A}"/>
              </a:ext>
            </a:extLst>
          </p:cNvPr>
          <p:cNvSpPr>
            <a:spLocks noGrp="1"/>
          </p:cNvSpPr>
          <p:nvPr>
            <p:ph type="sldNum" sz="quarter" idx="12"/>
          </p:nvPr>
        </p:nvSpPr>
        <p:spPr/>
        <p:txBody>
          <a:bodyPr/>
          <a:lstStyle/>
          <a:p>
            <a:fld id="{A93D2B9D-3E5A-4208-B841-6DCB29E9E020}" type="slidenum">
              <a:rPr lang="ru-RU" smtClean="0"/>
              <a:t>13</a:t>
            </a:fld>
            <a:endParaRPr lang="ru-RU"/>
          </a:p>
        </p:txBody>
      </p:sp>
      <p:sp>
        <p:nvSpPr>
          <p:cNvPr id="8" name="TextBox 7">
            <a:extLst>
              <a:ext uri="{FF2B5EF4-FFF2-40B4-BE49-F238E27FC236}">
                <a16:creationId xmlns:a16="http://schemas.microsoft.com/office/drawing/2014/main" id="{EC0C45FE-954A-26F0-89F0-6DAFB8BB9164}"/>
              </a:ext>
            </a:extLst>
          </p:cNvPr>
          <p:cNvSpPr txBox="1"/>
          <p:nvPr/>
        </p:nvSpPr>
        <p:spPr>
          <a:xfrm>
            <a:off x="7794655" y="1500000"/>
            <a:ext cx="4205345" cy="3900000"/>
          </a:xfrm>
          <a:prstGeom prst="rect">
            <a:avLst/>
          </a:prstGeom>
          <a:noFill/>
        </p:spPr>
        <p:txBody>
          <a:bodyPr wrap="square">
            <a:spAutoFit/>
          </a:bodyPr>
          <a:lstStyle/>
          <a:p>
            <a:pPr>
              <a:spcAft>
                <a:spcPts val="600"/>
              </a:spcAft>
            </a:pPr>
            <a:r>
              <a:rPr lang="ru-RU" sz="1400" dirty="0">
                <a:effectLst/>
                <a:latin typeface="+mn-lt"/>
              </a:rPr>
              <a:t>- Файл 100k.json: 100 000 чисел = 3 200 000 бит.</a:t>
            </a:r>
          </a:p>
          <a:p>
            <a:pPr>
              <a:spcAft>
                <a:spcPts val="600"/>
              </a:spcAft>
            </a:pPr>
            <a:r>
              <a:rPr lang="ru-RU" sz="1400" dirty="0">
                <a:effectLst/>
                <a:latin typeface="+mn-lt"/>
              </a:rPr>
              <a:t>- Пройдено </a:t>
            </a:r>
            <a:r>
              <a:rPr lang="ru-RU" sz="1400" b="1" dirty="0">
                <a:effectLst/>
                <a:latin typeface="+mn-lt"/>
              </a:rPr>
              <a:t>4 из 13</a:t>
            </a:r>
            <a:r>
              <a:rPr lang="ru-RU" sz="1400" dirty="0">
                <a:effectLst/>
                <a:latin typeface="+mn-lt"/>
              </a:rPr>
              <a:t> (№ 3, 4, 6, 10) — тот же набор, что и на 10 000 числах: рост выборки в 10 раз результат не изменил.</a:t>
            </a:r>
          </a:p>
          <a:p>
            <a:pPr>
              <a:spcAft>
                <a:spcPts val="600"/>
              </a:spcAft>
            </a:pPr>
            <a:r>
              <a:rPr lang="ru-RU" sz="1400" dirty="0">
                <a:effectLst/>
                <a:latin typeface="+mn-lt"/>
              </a:rPr>
              <a:t>- Зацикливания нет: в окне 10 000 лагов пиков на лаге периода нет, максимум АКФ 0,0131.</a:t>
            </a:r>
          </a:p>
        </p:txBody>
      </p:sp>
      <p:pic>
        <p:nvPicPr>
          <p:cNvPr id="6" name="Рисунок 5">
            <a:extLst>
              <a:ext uri="{FF2B5EF4-FFF2-40B4-BE49-F238E27FC236}">
                <a16:creationId xmlns:a16="http://schemas.microsoft.com/office/drawing/2014/main" id="{74D3B421-30C7-8951-03C5-83A941D89590}"/>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0710" y="1324266"/>
            <a:ext cx="7033945" cy="4813068"/>
          </a:xfrm>
          <a:prstGeom prst="rect">
            <a:avLst/>
          </a:prstGeom>
        </p:spPr>
      </p:pic>
    </p:spTree>
    <p:extLst>
      <p:ext uri="{BB962C8B-B14F-4D97-AF65-F5344CB8AC3E}">
        <p14:creationId xmlns:p14="http://schemas.microsoft.com/office/powerpoint/2010/main" val="2944710785"/>
      </p:ext>
    </p:extLst>
  </p:cSld>
  <p:clrMapOvr>
    <a:masterClrMapping/>
  </p:clrMapOvr>
  <p:transition spd="slow">
    <p:cove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B67DAC-538E-0216-C0BA-4326A0E496F8}"/>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74C1EA29-4E0F-55C4-8D83-DD4D223D36C0}"/>
              </a:ext>
            </a:extLst>
          </p:cNvPr>
          <p:cNvSpPr>
            <a:spLocks noGrp="1"/>
          </p:cNvSpPr>
          <p:nvPr>
            <p:ph type="title"/>
          </p:nvPr>
        </p:nvSpPr>
        <p:spPr>
          <a:xfrm>
            <a:off x="151748" y="288335"/>
            <a:ext cx="7951870" cy="640714"/>
          </a:xfrm>
        </p:spPr>
        <p:txBody>
          <a:bodyPr>
            <a:normAutofit/>
          </a:bodyPr>
          <a:lstStyle/>
          <a:p>
            <a:r>
              <a:rPr lang="ru-RU" sz="2400" dirty="0">
                <a:solidFill>
                  <a:schemeClr val="accent5">
                    <a:lumMod val="75000"/>
                  </a:schemeClr>
                </a:solidFill>
                <a:latin typeface="Arial Black" panose="020B0A04020102020204" pitchFamily="34" charset="0"/>
              </a:rPr>
              <a:t>Тестирование</a:t>
            </a:r>
            <a:r>
              <a:rPr lang="en-US" sz="2400" dirty="0">
                <a:solidFill>
                  <a:schemeClr val="accent5">
                    <a:lumMod val="75000"/>
                  </a:schemeClr>
                </a:solidFill>
                <a:latin typeface="Arial Black" panose="020B0A04020102020204" pitchFamily="34" charset="0"/>
              </a:rPr>
              <a:t> (1.0</a:t>
            </a:r>
            <a:r>
              <a:rPr lang="ru-RU" sz="2400" dirty="0">
                <a:solidFill>
                  <a:schemeClr val="accent5">
                    <a:lumMod val="75000"/>
                  </a:schemeClr>
                </a:solidFill>
                <a:latin typeface="Arial Black" panose="020B0A04020102020204" pitchFamily="34" charset="0"/>
              </a:rPr>
              <a:t>00.</a:t>
            </a:r>
            <a:r>
              <a:rPr lang="en-US" sz="2400" dirty="0">
                <a:solidFill>
                  <a:schemeClr val="accent5">
                    <a:lumMod val="75000"/>
                  </a:schemeClr>
                </a:solidFill>
                <a:latin typeface="Arial Black" panose="020B0A04020102020204" pitchFamily="34" charset="0"/>
              </a:rPr>
              <a:t>000</a:t>
            </a:r>
            <a:r>
              <a:rPr lang="ru-RU" sz="2400" dirty="0">
                <a:solidFill>
                  <a:schemeClr val="accent5">
                    <a:lumMod val="75000"/>
                  </a:schemeClr>
                </a:solidFill>
                <a:latin typeface="Arial Black" panose="020B0A04020102020204" pitchFamily="34" charset="0"/>
              </a:rPr>
              <a:t> точек) </a:t>
            </a:r>
          </a:p>
        </p:txBody>
      </p:sp>
      <p:sp>
        <p:nvSpPr>
          <p:cNvPr id="3" name="Номер слайда 2">
            <a:extLst>
              <a:ext uri="{FF2B5EF4-FFF2-40B4-BE49-F238E27FC236}">
                <a16:creationId xmlns:a16="http://schemas.microsoft.com/office/drawing/2014/main" id="{1350533E-FDC9-C620-DC4B-F998F4C7956A}"/>
              </a:ext>
            </a:extLst>
          </p:cNvPr>
          <p:cNvSpPr>
            <a:spLocks noGrp="1"/>
          </p:cNvSpPr>
          <p:nvPr>
            <p:ph type="sldNum" sz="quarter" idx="12"/>
          </p:nvPr>
        </p:nvSpPr>
        <p:spPr/>
        <p:txBody>
          <a:bodyPr/>
          <a:lstStyle/>
          <a:p>
            <a:fld id="{A93D2B9D-3E5A-4208-B841-6DCB29E9E020}" type="slidenum">
              <a:rPr lang="ru-RU" smtClean="0"/>
              <a:t>14</a:t>
            </a:fld>
            <a:endParaRPr lang="ru-RU"/>
          </a:p>
        </p:txBody>
      </p:sp>
      <p:pic>
        <p:nvPicPr>
          <p:cNvPr id="6" name="Рисунок 5">
            <a:extLst>
              <a:ext uri="{FF2B5EF4-FFF2-40B4-BE49-F238E27FC236}">
                <a16:creationId xmlns:a16="http://schemas.microsoft.com/office/drawing/2014/main" id="{6F874650-8E38-A62F-D6D2-237FDCA5E055}"/>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18192" y="1203158"/>
            <a:ext cx="7523510" cy="5153192"/>
          </a:xfrm>
          <a:prstGeom prst="rect">
            <a:avLst/>
          </a:prstGeom>
        </p:spPr>
      </p:pic>
      <p:sp>
        <p:nvSpPr>
          <p:cNvPr id="9" name="TextBox 8">
            <a:extLst>
              <a:ext uri="{FF2B5EF4-FFF2-40B4-BE49-F238E27FC236}">
                <a16:creationId xmlns:a16="http://schemas.microsoft.com/office/drawing/2014/main" id="{497B9633-6214-3C37-A4C9-6AB6321E9D5F}"/>
              </a:ext>
            </a:extLst>
          </p:cNvPr>
          <p:cNvSpPr txBox="1"/>
          <p:nvPr/>
        </p:nvSpPr>
        <p:spPr>
          <a:xfrm>
            <a:off x="8291702" y="1500000"/>
            <a:ext cx="3708298" cy="3900000"/>
          </a:xfrm>
          <a:prstGeom prst="rect">
            <a:avLst/>
          </a:prstGeom>
          <a:noFill/>
        </p:spPr>
        <p:txBody>
          <a:bodyPr wrap="square">
            <a:spAutoFit/>
          </a:bodyPr>
          <a:lstStyle/>
          <a:p>
            <a:pPr>
              <a:spcAft>
                <a:spcPts val="600"/>
              </a:spcAft>
            </a:pPr>
            <a:r>
              <a:rPr lang="ru-RU" sz="1400" dirty="0">
                <a:effectLst/>
                <a:latin typeface="+mn-lt"/>
              </a:rPr>
              <a:t>- Файл 1kk.json: 1 000 000 чисел = 32 000 000 бит.</a:t>
            </a:r>
          </a:p>
          <a:p>
            <a:pPr>
              <a:spcAft>
                <a:spcPts val="600"/>
              </a:spcAft>
            </a:pPr>
            <a:r>
              <a:rPr lang="ru-RU" sz="1400" dirty="0">
                <a:effectLst/>
                <a:latin typeface="+mn-lt"/>
              </a:rPr>
              <a:t>- Пройдено </a:t>
            </a:r>
            <a:r>
              <a:rPr lang="ru-RU" sz="1400" b="1" dirty="0">
                <a:effectLst/>
                <a:latin typeface="+mn-lt"/>
              </a:rPr>
              <a:t>5 из 13</a:t>
            </a:r>
            <a:r>
              <a:rPr lang="ru-RU" sz="1400" dirty="0">
                <a:effectLst/>
                <a:latin typeface="+mn-lt"/>
              </a:rPr>
              <a:t> (№ 1, 3, 4, 6, 10): к набору для 10 000 и 100 000 чисел вернулся побитовый тест частот.</a:t>
            </a:r>
          </a:p>
          <a:p>
            <a:pPr>
              <a:spcAft>
                <a:spcPts val="600"/>
              </a:spcAft>
            </a:pPr>
            <a:r>
              <a:rPr lang="ru-RU" sz="1400" dirty="0">
                <a:effectLst/>
                <a:latin typeface="+mn-lt"/>
              </a:rPr>
              <a:t>- Не пройдены, в частности, спектральный тест, тест автокорреляции и критерий G-цикла. Зацикливания нет: максимум АКФ 0,0096, пиков периода нет.</a:t>
            </a:r>
          </a:p>
        </p:txBody>
      </p:sp>
    </p:spTree>
    <p:extLst>
      <p:ext uri="{BB962C8B-B14F-4D97-AF65-F5344CB8AC3E}">
        <p14:creationId xmlns:p14="http://schemas.microsoft.com/office/powerpoint/2010/main" val="615699681"/>
      </p:ext>
    </p:extLst>
  </p:cSld>
  <p:clrMapOvr>
    <a:masterClrMapping/>
  </p:clrMapOvr>
  <p:transition spd="slow">
    <p:cove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6926B-64F9-4EB2-1C9C-284D050C089B}"/>
            </a:ext>
          </a:extLst>
        </p:cNvPr>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758FF1-251C-051E-A936-0E6BAB03662D}"/>
              </a:ext>
            </a:extLst>
          </p:cNvPr>
          <p:cNvSpPr>
            <a:spLocks noGrp="1"/>
          </p:cNvSpPr>
          <p:nvPr>
            <p:ph type="title"/>
          </p:nvPr>
        </p:nvSpPr>
        <p:spPr>
          <a:xfrm>
            <a:off x="151748" y="288335"/>
            <a:ext cx="7951870" cy="640714"/>
          </a:xfrm>
        </p:spPr>
        <p:txBody>
          <a:bodyPr>
            <a:normAutofit/>
          </a:bodyPr>
          <a:lstStyle/>
          <a:p>
            <a:r>
              <a:rPr lang="ru-RU" sz="2400" dirty="0">
                <a:solidFill>
                  <a:schemeClr val="accent5">
                    <a:lumMod val="75000"/>
                  </a:schemeClr>
                </a:solidFill>
                <a:latin typeface="Arial Black" panose="020B0A04020102020204" pitchFamily="34" charset="0"/>
              </a:rPr>
              <a:t>Тестирование</a:t>
            </a:r>
            <a:r>
              <a:rPr lang="en-US" sz="2400" dirty="0">
                <a:solidFill>
                  <a:schemeClr val="accent5">
                    <a:lumMod val="75000"/>
                  </a:schemeClr>
                </a:solidFill>
                <a:latin typeface="Arial Black" panose="020B0A04020102020204" pitchFamily="34" charset="0"/>
              </a:rPr>
              <a:t> </a:t>
            </a:r>
            <a:r>
              <a:rPr lang="ru-RU" sz="2400" dirty="0">
                <a:solidFill>
                  <a:schemeClr val="accent5">
                    <a:lumMod val="75000"/>
                  </a:schemeClr>
                </a:solidFill>
                <a:latin typeface="Arial Black" panose="020B0A04020102020204" pitchFamily="34" charset="0"/>
              </a:rPr>
              <a:t>плохих </a:t>
            </a:r>
            <a:r>
              <a:rPr lang="en-US" sz="2400" dirty="0">
                <a:solidFill>
                  <a:schemeClr val="accent5">
                    <a:lumMod val="75000"/>
                  </a:schemeClr>
                </a:solidFill>
                <a:latin typeface="Arial Black" panose="020B0A04020102020204" pitchFamily="34" charset="0"/>
              </a:rPr>
              <a:t>(</a:t>
            </a:r>
            <a:r>
              <a:rPr lang="ru-RU" sz="2400" dirty="0">
                <a:solidFill>
                  <a:schemeClr val="accent5">
                    <a:lumMod val="75000"/>
                  </a:schemeClr>
                </a:solidFill>
                <a:latin typeface="Arial Black" panose="020B0A04020102020204" pitchFamily="34" charset="0"/>
              </a:rPr>
              <a:t>3</a:t>
            </a:r>
            <a:r>
              <a:rPr lang="en-US" sz="2400" dirty="0">
                <a:solidFill>
                  <a:schemeClr val="accent5">
                    <a:lumMod val="75000"/>
                  </a:schemeClr>
                </a:solidFill>
                <a:latin typeface="Arial Black" panose="020B0A04020102020204" pitchFamily="34" charset="0"/>
              </a:rPr>
              <a:t>000</a:t>
            </a:r>
            <a:r>
              <a:rPr lang="ru-RU" sz="2400" dirty="0">
                <a:solidFill>
                  <a:schemeClr val="accent5">
                    <a:lumMod val="75000"/>
                  </a:schemeClr>
                </a:solidFill>
                <a:latin typeface="Arial Black" panose="020B0A04020102020204" pitchFamily="34" charset="0"/>
              </a:rPr>
              <a:t> точек) </a:t>
            </a:r>
          </a:p>
        </p:txBody>
      </p:sp>
      <p:sp>
        <p:nvSpPr>
          <p:cNvPr id="3" name="Номер слайда 2">
            <a:extLst>
              <a:ext uri="{FF2B5EF4-FFF2-40B4-BE49-F238E27FC236}">
                <a16:creationId xmlns:a16="http://schemas.microsoft.com/office/drawing/2014/main" id="{DF43A0D1-9BBF-8E02-7320-14AB31834D2E}"/>
              </a:ext>
            </a:extLst>
          </p:cNvPr>
          <p:cNvSpPr>
            <a:spLocks noGrp="1"/>
          </p:cNvSpPr>
          <p:nvPr>
            <p:ph type="sldNum" sz="quarter" idx="12"/>
          </p:nvPr>
        </p:nvSpPr>
        <p:spPr/>
        <p:txBody>
          <a:bodyPr/>
          <a:lstStyle/>
          <a:p>
            <a:fld id="{A93D2B9D-3E5A-4208-B841-6DCB29E9E020}" type="slidenum">
              <a:rPr lang="ru-RU" smtClean="0"/>
              <a:t>15</a:t>
            </a:fld>
            <a:endParaRPr lang="ru-RU"/>
          </a:p>
        </p:txBody>
      </p:sp>
      <p:sp>
        <p:nvSpPr>
          <p:cNvPr id="8" name="TextBox 7">
            <a:extLst>
              <a:ext uri="{FF2B5EF4-FFF2-40B4-BE49-F238E27FC236}">
                <a16:creationId xmlns:a16="http://schemas.microsoft.com/office/drawing/2014/main" id="{8A910E02-1FDE-35E6-2549-409ABCCC6879}"/>
              </a:ext>
            </a:extLst>
          </p:cNvPr>
          <p:cNvSpPr txBox="1"/>
          <p:nvPr/>
        </p:nvSpPr>
        <p:spPr>
          <a:xfrm>
            <a:off x="7642968" y="1500000"/>
            <a:ext cx="4357032" cy="3900000"/>
          </a:xfrm>
          <a:prstGeom prst="rect">
            <a:avLst/>
          </a:prstGeom>
          <a:noFill/>
        </p:spPr>
        <p:txBody>
          <a:bodyPr wrap="square">
            <a:spAutoFit/>
          </a:bodyPr>
          <a:lstStyle/>
          <a:p>
            <a:pPr>
              <a:spcAft>
                <a:spcPts val="600"/>
              </a:spcAft>
            </a:pPr>
            <a:r>
              <a:rPr lang="ru-RU" sz="1400" dirty="0">
                <a:effectLst/>
                <a:latin typeface="+mn-lt"/>
              </a:rPr>
              <a:t>- Для сравнения проверили генератор с влияющими битами (1, 3, 9) у обоих регистров (файл 3kbad.json).</a:t>
            </a:r>
          </a:p>
          <a:p>
            <a:pPr>
              <a:spcAft>
                <a:spcPts val="600"/>
              </a:spcAft>
            </a:pPr>
            <a:r>
              <a:rPr lang="ru-RU" sz="1400" dirty="0">
                <a:effectLst/>
                <a:latin typeface="+mn-lt"/>
              </a:rPr>
              <a:t>- Пройдено </a:t>
            </a:r>
            <a:r>
              <a:rPr lang="ru-RU" sz="1400" b="1" dirty="0">
                <a:effectLst/>
                <a:latin typeface="+mn-lt"/>
              </a:rPr>
              <a:t>3 из 13</a:t>
            </a:r>
            <a:r>
              <a:rPr lang="ru-RU" sz="1400" dirty="0">
                <a:effectLst/>
                <a:latin typeface="+mn-lt"/>
              </a:rPr>
              <a:t> (№ 3, 6, 10): тест максимальной серии, кумулятивные суммы, сжимаемость. Не пройдены побитовый тест частот, рангов матриц и спектральный — на хороших параметрах той же длины они проходились.</a:t>
            </a:r>
          </a:p>
          <a:p>
            <a:pPr>
              <a:spcAft>
                <a:spcPts val="600"/>
              </a:spcAft>
            </a:pPr>
            <a:r>
              <a:rPr lang="ru-RU" sz="1400" dirty="0">
                <a:effectLst/>
                <a:latin typeface="+mn-lt"/>
              </a:rPr>
              <a:t>- Последовательность периодична: на АКФ пик 0,7584 на лаге 249, то есть повтор примерно каждые 250 чисел.</a:t>
            </a:r>
          </a:p>
        </p:txBody>
      </p:sp>
      <p:pic>
        <p:nvPicPr>
          <p:cNvPr id="5" name="Рисунок 4">
            <a:extLst>
              <a:ext uri="{FF2B5EF4-FFF2-40B4-BE49-F238E27FC236}">
                <a16:creationId xmlns:a16="http://schemas.microsoft.com/office/drawing/2014/main" id="{92CD7A6F-E144-223D-9712-5DBD6E30E3B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59769" y="1010899"/>
            <a:ext cx="7033199" cy="4836202"/>
          </a:xfrm>
          <a:prstGeom prst="rect">
            <a:avLst/>
          </a:prstGeom>
        </p:spPr>
      </p:pic>
    </p:spTree>
    <p:extLst>
      <p:ext uri="{BB962C8B-B14F-4D97-AF65-F5344CB8AC3E}">
        <p14:creationId xmlns:p14="http://schemas.microsoft.com/office/powerpoint/2010/main" val="531349356"/>
      </p:ext>
    </p:extLst>
  </p:cSld>
  <p:clrMapOvr>
    <a:masterClrMapping/>
  </p:clrMapOvr>
  <p:transition spd="slow">
    <p:cove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058127" y="496882"/>
            <a:ext cx="7951870" cy="640714"/>
          </a:xfrm>
        </p:spPr>
        <p:txBody>
          <a:bodyPr>
            <a:normAutofit/>
          </a:bodyPr>
          <a:lstStyle/>
          <a:p>
            <a:r>
              <a:rPr lang="ru-RU" sz="2400" dirty="0">
                <a:solidFill>
                  <a:schemeClr val="accent5">
                    <a:lumMod val="75000"/>
                  </a:schemeClr>
                </a:solidFill>
                <a:latin typeface="Arial Black" panose="020B0A04020102020204" pitchFamily="34" charset="0"/>
              </a:rPr>
              <a:t>Вывод по тестам</a:t>
            </a:r>
          </a:p>
        </p:txBody>
      </p:sp>
      <p:sp>
        <p:nvSpPr>
          <p:cNvPr id="3" name="Номер слайда 2">
            <a:extLst>
              <a:ext uri="{FF2B5EF4-FFF2-40B4-BE49-F238E27FC236}">
                <a16:creationId xmlns:a16="http://schemas.microsoft.com/office/drawing/2014/main" id="{6F237C0C-FAB0-47B1-AB02-A0E18D5E2A8C}"/>
              </a:ext>
            </a:extLst>
          </p:cNvPr>
          <p:cNvSpPr>
            <a:spLocks noGrp="1"/>
          </p:cNvSpPr>
          <p:nvPr>
            <p:ph type="sldNum" sz="quarter" idx="12"/>
          </p:nvPr>
        </p:nvSpPr>
        <p:spPr/>
        <p:txBody>
          <a:bodyPr/>
          <a:lstStyle/>
          <a:p>
            <a:fld id="{A93D2B9D-3E5A-4208-B841-6DCB29E9E020}" type="slidenum">
              <a:rPr lang="ru-RU" smtClean="0"/>
              <a:t>16</a:t>
            </a:fld>
            <a:endParaRPr lang="ru-RU"/>
          </a:p>
        </p:txBody>
      </p:sp>
      <p:sp>
        <p:nvSpPr>
          <p:cNvPr id="4" name="TextBox 3">
            <a:extLst>
              <a:ext uri="{FF2B5EF4-FFF2-40B4-BE49-F238E27FC236}">
                <a16:creationId xmlns:a16="http://schemas.microsoft.com/office/drawing/2014/main" id="{0FCC9F85-737B-3898-917D-7E050EABFD41}"/>
              </a:ext>
            </a:extLst>
          </p:cNvPr>
          <p:cNvSpPr txBox="1"/>
          <p:nvPr/>
        </p:nvSpPr>
        <p:spPr>
          <a:xfrm>
            <a:off x="936986" y="2509033"/>
            <a:ext cx="10165210" cy="3139321"/>
          </a:xfrm>
          <a:prstGeom prst="rect">
            <a:avLst/>
          </a:prstGeom>
          <a:noFill/>
        </p:spPr>
        <p:txBody>
          <a:bodyPr wrap="square" rtlCol="0">
            <a:spAutoFit/>
          </a:bodyPr>
          <a:lstStyle/>
          <a:p>
            <a:pPr>
              <a:spcAft>
                <a:spcPts val="900"/>
              </a:spcAft>
            </a:pPr>
            <a:r>
              <a:rPr lang="ru-RU" sz="1600" b="1" dirty="0">
                <a:solidFill>
                  <a:schemeClr val="tx1"/>
                </a:solidFill>
              </a:rPr>
              <a:t>Важность настроек: </a:t>
            </a:r>
            <a:r>
              <a:rPr lang="ru-RU" sz="1600" dirty="0">
                <a:solidFill>
                  <a:schemeClr val="tx1"/>
                </a:solidFill>
              </a:rPr>
              <a:t>при влияющих битах (1, 14, 32) и (1, 19, 32) на графиках АКФ нет пиков на лаге периода во всех выборках до 1 000 000 чисел, то есть период больше окна анализа. При (1, 3, 9) и (1, 3, 9) АКФ даёт пик 0,7584 на лаге 249: последовательность повторяется примерно каждые 250 чисел, и генератор непригоден.</a:t>
            </a:r>
          </a:p>
          <a:p>
            <a:pPr>
              <a:spcAft>
                <a:spcPts val="900"/>
              </a:spcAft>
            </a:pPr>
            <a:r>
              <a:rPr lang="ru-RU" sz="1600" b="1" dirty="0">
                <a:solidFill>
                  <a:schemeClr val="tx1"/>
                </a:solidFill>
              </a:rPr>
              <a:t>Влияние длины выборки: </a:t>
            </a:r>
            <a:r>
              <a:rPr lang="ru-RU" sz="1600" dirty="0">
                <a:solidFill>
                  <a:schemeClr val="tx1"/>
                </a:solidFill>
              </a:rPr>
              <a:t>пройдено 4 из 13 тестов на 1000 числах, 6 на 3000, 4 на 10 000 и на 100 000, 5 на 1 000 000. На 1000 числах тесту рангов матриц не хватает данных (32 000 бит &lt; 38 912); дальше число пройденных тестов от длины почти не зависит, зацикливания нет.</a:t>
            </a:r>
          </a:p>
          <a:p>
            <a:pPr>
              <a:spcAft>
                <a:spcPts val="900"/>
              </a:spcAft>
            </a:pPr>
            <a:r>
              <a:rPr lang="ru-RU" sz="1600" b="1" dirty="0">
                <a:solidFill>
                  <a:schemeClr val="tx1"/>
                </a:solidFill>
              </a:rPr>
              <a:t>Сравнение с плохим вариантом: </a:t>
            </a:r>
            <a:r>
              <a:rPr lang="ru-RU" sz="1600" dirty="0">
                <a:solidFill>
                  <a:schemeClr val="tx1"/>
                </a:solidFill>
              </a:rPr>
              <a:t>тесты № 2, 7, 8, 9, 11, 12, 13 не пройдены ни в одном эксперименте, в том числе при хороших параметрах, поэтому по числу тестов варианты различаются слабо (4–6 против 3 из 13). Главное различие видно по АКФ: 0,7584 против 0,01–0,09.</a:t>
            </a:r>
          </a:p>
        </p:txBody>
      </p:sp>
    </p:spTree>
    <p:extLst>
      <p:ext uri="{BB962C8B-B14F-4D97-AF65-F5344CB8AC3E}">
        <p14:creationId xmlns:p14="http://schemas.microsoft.com/office/powerpoint/2010/main" val="2403681054"/>
      </p:ext>
    </p:extLst>
  </p:cSld>
  <p:clrMapOvr>
    <a:masterClrMapping/>
  </p:clrMapOvr>
  <p:transition spd="slow">
    <p:cove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F395A59-1EA4-BCEC-5EF6-720164D9ADB6}"/>
              </a:ext>
            </a:extLst>
          </p:cNvPr>
          <p:cNvSpPr>
            <a:spLocks noGrp="1"/>
          </p:cNvSpPr>
          <p:nvPr>
            <p:ph type="title"/>
          </p:nvPr>
        </p:nvSpPr>
        <p:spPr>
          <a:xfrm>
            <a:off x="838200" y="212725"/>
            <a:ext cx="6661484" cy="939131"/>
          </a:xfrm>
        </p:spPr>
        <p:txBody>
          <a:bodyPr>
            <a:normAutofit/>
          </a:bodyPr>
          <a:lstStyle/>
          <a:p>
            <a:r>
              <a:rPr lang="ru-RU" sz="2400" dirty="0">
                <a:solidFill>
                  <a:schemeClr val="accent5">
                    <a:lumMod val="75000"/>
                  </a:schemeClr>
                </a:solidFill>
                <a:latin typeface="Arial Black" panose="020B0A04020102020204" pitchFamily="34" charset="0"/>
              </a:rPr>
              <a:t>Сводная таблица результатов тестирования ГПСЧ</a:t>
            </a:r>
          </a:p>
        </p:txBody>
      </p:sp>
      <p:graphicFrame>
        <p:nvGraphicFramePr>
          <p:cNvPr id="6" name="Объект 5">
            <a:extLst>
              <a:ext uri="{FF2B5EF4-FFF2-40B4-BE49-F238E27FC236}">
                <a16:creationId xmlns:a16="http://schemas.microsoft.com/office/drawing/2014/main" id="{56364D02-627E-6BD0-83E9-7FE87B1E860E}"/>
              </a:ext>
            </a:extLst>
          </p:cNvPr>
          <p:cNvGraphicFramePr>
            <a:graphicFrameLocks noGrp="1"/>
          </p:cNvGraphicFramePr>
          <p:nvPr>
            <p:ph idx="1"/>
            <p:extLst>
              <p:ext uri="{D42A27DB-BD31-4B8C-83A1-F6EECF244321}">
                <p14:modId xmlns:p14="http://schemas.microsoft.com/office/powerpoint/2010/main" val="1009871087"/>
              </p:ext>
            </p:extLst>
          </p:nvPr>
        </p:nvGraphicFramePr>
        <p:xfrm>
          <a:off x="838200" y="1151856"/>
          <a:ext cx="10515600" cy="5410952"/>
        </p:xfrm>
        <a:graphic>
          <a:graphicData uri="http://schemas.openxmlformats.org/drawingml/2006/table">
            <a:tbl>
              <a:tblPr firstRow="1" bandRow="1">
                <a:tableStyleId>{5C22544A-7EE6-4342-B048-85BDC9FD1C3A}</a:tableStyleId>
              </a:tblPr>
              <a:tblGrid>
                <a:gridCol w="1337712">
                  <a:extLst>
                    <a:ext uri="{9D8B030D-6E8A-4147-A177-3AD203B41FA5}">
                      <a16:colId xmlns:a16="http://schemas.microsoft.com/office/drawing/2014/main" val="911049898"/>
                    </a:ext>
                  </a:extLst>
                </a:gridCol>
                <a:gridCol w="1000000">
                  <a:extLst>
                    <a:ext uri="{9D8B030D-6E8A-4147-A177-3AD203B41FA5}">
                      <a16:colId xmlns:a16="http://schemas.microsoft.com/office/drawing/2014/main" val="3179680237"/>
                    </a:ext>
                  </a:extLst>
                </a:gridCol>
                <a:gridCol w="1150000">
                  <a:extLst>
                    <a:ext uri="{9D8B030D-6E8A-4147-A177-3AD203B41FA5}">
                      <a16:colId xmlns:a16="http://schemas.microsoft.com/office/drawing/2014/main" val="2447084926"/>
                    </a:ext>
                  </a:extLst>
                </a:gridCol>
                <a:gridCol w="1650000">
                  <a:extLst>
                    <a:ext uri="{9D8B030D-6E8A-4147-A177-3AD203B41FA5}">
                      <a16:colId xmlns:a16="http://schemas.microsoft.com/office/drawing/2014/main" val="659723297"/>
                    </a:ext>
                  </a:extLst>
                </a:gridCol>
                <a:gridCol w="1150000">
                  <a:extLst>
                    <a:ext uri="{9D8B030D-6E8A-4147-A177-3AD203B41FA5}">
                      <a16:colId xmlns:a16="http://schemas.microsoft.com/office/drawing/2014/main" val="3053144354"/>
                    </a:ext>
                  </a:extLst>
                </a:gridCol>
                <a:gridCol w="1400000">
                  <a:extLst>
                    <a:ext uri="{9D8B030D-6E8A-4147-A177-3AD203B41FA5}">
                      <a16:colId xmlns:a16="http://schemas.microsoft.com/office/drawing/2014/main" val="1490161557"/>
                    </a:ext>
                  </a:extLst>
                </a:gridCol>
                <a:gridCol w="2827888">
                  <a:extLst>
                    <a:ext uri="{9D8B030D-6E8A-4147-A177-3AD203B41FA5}">
                      <a16:colId xmlns:a16="http://schemas.microsoft.com/office/drawing/2014/main" val="1404296740"/>
                    </a:ext>
                  </a:extLst>
                </a:gridCol>
              </a:tblGrid>
              <a:tr h="689798">
                <a:tc>
                  <a:txBody>
                    <a:bodyPr/>
                    <a:lstStyle/>
                    <a:p>
                      <a:r>
                        <a:rPr lang="ru-RU" sz="1200" dirty="0"/>
                        <a:t>Название эксперимента / Файл</a:t>
                      </a:r>
                    </a:p>
                  </a:txBody>
                  <a:tcPr/>
                </a:tc>
                <a:tc>
                  <a:txBody>
                    <a:bodyPr/>
                    <a:lstStyle/>
                    <a:p>
                      <a:r>
                        <a:rPr lang="ru-RU" sz="1200" dirty="0"/>
                        <a:t>Длина выборки </a:t>
                      </a:r>
                      <a:r>
                        <a:rPr lang="en-US" sz="1200" b="1" kern="1200" dirty="0">
                          <a:solidFill>
                            <a:schemeClr val="lt1"/>
                          </a:solidFill>
                          <a:effectLst/>
                          <a:latin typeface="+mn-lt"/>
                          <a:ea typeface="+mn-ea"/>
                          <a:cs typeface="+mn-cs"/>
                        </a:rPr>
                        <a:t>N</a:t>
                      </a:r>
                      <a:endParaRPr lang="ru-RU" sz="1200" dirty="0"/>
                    </a:p>
                  </a:txBody>
                  <a:tcPr/>
                </a:tc>
                <a:tc>
                  <a:txBody>
                    <a:bodyPr/>
                    <a:lstStyle/>
                    <a:p>
                      <a:r>
                        <a:rPr lang="ru-RU" sz="1200" dirty="0"/>
                        <a:t>Влияющие биты</a:t>
                      </a:r>
                    </a:p>
                  </a:txBody>
                  <a:tcPr/>
                </a:tc>
                <a:tc>
                  <a:txBody>
                    <a:bodyPr/>
                    <a:lstStyle/>
                    <a:p>
                      <a:r>
                        <a:rPr lang="ru-RU" sz="1200" dirty="0"/>
                        <a:t>Пройдено тестов</a:t>
                      </a:r>
                    </a:p>
                  </a:txBody>
                  <a:tcPr/>
                </a:tc>
                <a:tc>
                  <a:txBody>
                    <a:bodyPr/>
                    <a:lstStyle/>
                    <a:p>
                      <a:r>
                        <a:rPr lang="ru-RU" sz="1200" dirty="0">
                          <a:latin typeface="+mn-lt"/>
                        </a:rPr>
                        <a:t>Период T (по АКФ)</a:t>
                      </a:r>
                    </a:p>
                  </a:txBody>
                  <a:tcPr/>
                </a:tc>
                <a:tc>
                  <a:txBody>
                    <a:bodyPr/>
                    <a:lstStyle/>
                    <a:p>
                      <a:r>
                        <a:rPr lang="ru-RU" sz="1200" dirty="0"/>
                        <a:t>Коэффициент АКФ</a:t>
                      </a:r>
                    </a:p>
                  </a:txBody>
                  <a:tcPr/>
                </a:tc>
                <a:tc>
                  <a:txBody>
                    <a:bodyPr/>
                    <a:lstStyle/>
                    <a:p>
                      <a:r>
                        <a:rPr lang="ru-RU" sz="1200" dirty="0"/>
                        <a:t>Итоговый результат</a:t>
                      </a:r>
                    </a:p>
                  </a:txBody>
                  <a:tcPr/>
                </a:tc>
                <a:extLst>
                  <a:ext uri="{0D108BD9-81ED-4DB2-BD59-A6C34878D82A}">
                    <a16:rowId xmlns:a16="http://schemas.microsoft.com/office/drawing/2014/main" val="1709747564"/>
                  </a:ext>
                </a:extLst>
              </a:tr>
              <a:tr h="689798">
                <a:tc>
                  <a:txBody>
                    <a:bodyPr/>
                    <a:lstStyle/>
                    <a:p>
                      <a:r>
                        <a:rPr lang="ru-RU" sz="1200" b="1" dirty="0">
                          <a:latin typeface="+mn-lt"/>
                        </a:rPr>
                        <a:t>Пример плохого теста</a:t>
                      </a:r>
                    </a:p>
                  </a:txBody>
                  <a:tcPr/>
                </a:tc>
                <a:tc>
                  <a:txBody>
                    <a:bodyPr/>
                    <a:lstStyle/>
                    <a:p>
                      <a:r>
                        <a:rPr lang="ru-RU" sz="1200" dirty="0">
                          <a:latin typeface="+mn-lt"/>
                        </a:rPr>
                        <a:t>3000</a:t>
                      </a:r>
                    </a:p>
                  </a:txBody>
                  <a:tcPr/>
                </a:tc>
                <a:tc>
                  <a:txBody>
                    <a:bodyPr/>
                    <a:lstStyle/>
                    <a:p>
                      <a:r>
                        <a:rPr lang="ru-RU" sz="1200" dirty="0">
                          <a:latin typeface="+mn-lt"/>
                        </a:rPr>
                        <a:t>1, 3, 9</a:t>
                      </a:r>
                    </a:p>
                    <a:p>
                      <a:r>
                        <a:rPr lang="ru-RU" sz="1200" dirty="0">
                          <a:latin typeface="+mn-lt"/>
                        </a:rPr>
                        <a:t>1, 3, 9</a:t>
                      </a:r>
                    </a:p>
                  </a:txBody>
                  <a:tcPr/>
                </a:tc>
                <a:tc>
                  <a:txBody>
                    <a:bodyPr/>
                    <a:lstStyle/>
                    <a:p>
                      <a:r>
                        <a:rPr lang="ru-RU" sz="1200" dirty="0">
                          <a:latin typeface="+mn-lt"/>
                        </a:rPr>
                        <a:t>3 / 13 (3, 6, 10)</a:t>
                      </a:r>
                    </a:p>
                  </a:txBody>
                  <a:tcPr/>
                </a:tc>
                <a:tc>
                  <a:txBody>
                    <a:bodyPr/>
                    <a:lstStyle/>
                    <a:p>
                      <a:r>
                        <a:rPr lang="ru-RU" sz="1200" dirty="0">
                          <a:latin typeface="+mn-lt"/>
                        </a:rPr>
                        <a:t>T ≈ 249</a:t>
                      </a:r>
                    </a:p>
                  </a:txBody>
                  <a:tcPr/>
                </a:tc>
                <a:tc>
                  <a:txBody>
                    <a:bodyPr/>
                    <a:lstStyle/>
                    <a:p>
                      <a:r>
                        <a:rPr lang="ru-RU" sz="1200" dirty="0">
                          <a:latin typeface="+mn-lt"/>
                        </a:rPr>
                        <a:t>0,7584 лаг 249</a:t>
                      </a:r>
                    </a:p>
                  </a:txBody>
                  <a:tcPr/>
                </a:tc>
                <a:tc>
                  <a:txBody>
                    <a:bodyPr/>
                    <a:lstStyle/>
                    <a:p>
                      <a:r>
                        <a:rPr lang="ru-RU" sz="1200" b="1" dirty="0">
                          <a:latin typeface="+mn-lt"/>
                        </a:rPr>
                        <a:t>Провал.</a:t>
                      </a:r>
                      <a:r>
                        <a:rPr lang="ru-RU" sz="1200" dirty="0">
                          <a:latin typeface="+mn-lt"/>
                        </a:rPr>
                        <a:t> Ряд периодичен (повтор ≈ каждые 250 чисел).</a:t>
                      </a:r>
                    </a:p>
                  </a:txBody>
                  <a:tcPr/>
                </a:tc>
                <a:extLst>
                  <a:ext uri="{0D108BD9-81ED-4DB2-BD59-A6C34878D82A}">
                    <a16:rowId xmlns:a16="http://schemas.microsoft.com/office/drawing/2014/main" val="4285879861"/>
                  </a:ext>
                </a:extLst>
              </a:tr>
              <a:tr h="689798">
                <a:tc>
                  <a:txBody>
                    <a:bodyPr/>
                    <a:lstStyle/>
                    <a:p>
                      <a:r>
                        <a:rPr lang="ru-RU" sz="1200" b="1" dirty="0">
                          <a:latin typeface="+mn-lt"/>
                        </a:rPr>
                        <a:t>Тест короткой выборки</a:t>
                      </a:r>
                    </a:p>
                  </a:txBody>
                  <a:tcPr/>
                </a:tc>
                <a:tc>
                  <a:txBody>
                    <a:bodyPr/>
                    <a:lstStyle/>
                    <a:p>
                      <a:r>
                        <a:rPr lang="ru-RU" sz="1200" dirty="0">
                          <a:latin typeface="+mn-lt"/>
                        </a:rPr>
                        <a:t>1000</a:t>
                      </a:r>
                    </a:p>
                  </a:txBody>
                  <a:tcPr/>
                </a:tc>
                <a:tc>
                  <a:txBody>
                    <a:bodyPr/>
                    <a:lstStyle/>
                    <a:p>
                      <a:r>
                        <a:rPr lang="ru-RU" sz="1200" dirty="0">
                          <a:latin typeface="+mn-lt"/>
                        </a:rPr>
                        <a:t>1, 14, 32</a:t>
                      </a:r>
                    </a:p>
                    <a:p>
                      <a:r>
                        <a:rPr lang="ru-RU" sz="1200" dirty="0">
                          <a:latin typeface="+mn-lt"/>
                        </a:rPr>
                        <a:t>1, 19, 32</a:t>
                      </a:r>
                    </a:p>
                  </a:txBody>
                  <a:tcPr/>
                </a:tc>
                <a:tc>
                  <a:txBody>
                    <a:bodyPr/>
                    <a:lstStyle/>
                    <a:p>
                      <a:r>
                        <a:rPr lang="ru-RU" sz="1200" dirty="0">
                          <a:latin typeface="+mn-lt"/>
                        </a:rPr>
                        <a:t>4 / 13 (1, 3, 6, 10)</a:t>
                      </a:r>
                    </a:p>
                  </a:txBody>
                  <a:tcPr/>
                </a:tc>
                <a:tc>
                  <a:txBody>
                    <a:bodyPr/>
                    <a:lstStyle/>
                    <a:p>
                      <a:r>
                        <a:rPr lang="ru-RU" sz="1200" dirty="0">
                          <a:latin typeface="+mn-lt"/>
                        </a:rPr>
                        <a:t>T &gt; 500</a:t>
                      </a:r>
                    </a:p>
                  </a:txBody>
                  <a:tcPr/>
                </a:tc>
                <a:tc>
                  <a:txBody>
                    <a:bodyPr/>
                    <a:lstStyle/>
                    <a:p>
                      <a:r>
                        <a:rPr lang="ru-RU" sz="1200" dirty="0">
                          <a:latin typeface="+mn-lt"/>
                        </a:rPr>
                        <a:t>−0,0927 лаг 159</a:t>
                      </a:r>
                    </a:p>
                  </a:txBody>
                  <a:tcPr/>
                </a:tc>
                <a:tc>
                  <a:txBody>
                    <a:bodyPr/>
                    <a:lstStyle/>
                    <a:p>
                      <a:r>
                        <a:rPr lang="ru-RU" sz="1200" b="1" dirty="0">
                          <a:latin typeface="+mn-lt"/>
                        </a:rPr>
                        <a:t>Удовлетворительно.</a:t>
                      </a:r>
                      <a:r>
                        <a:rPr lang="ru-RU" sz="1200" dirty="0">
                          <a:latin typeface="+mn-lt"/>
                        </a:rPr>
                        <a:t> Не хватает данных для теста рангов матриц.</a:t>
                      </a:r>
                    </a:p>
                  </a:txBody>
                  <a:tcPr/>
                </a:tc>
                <a:extLst>
                  <a:ext uri="{0D108BD9-81ED-4DB2-BD59-A6C34878D82A}">
                    <a16:rowId xmlns:a16="http://schemas.microsoft.com/office/drawing/2014/main" val="122873663"/>
                  </a:ext>
                </a:extLst>
              </a:tr>
              <a:tr h="689798">
                <a:tc>
                  <a:txBody>
                    <a:bodyPr/>
                    <a:lstStyle/>
                    <a:p>
                      <a:r>
                        <a:rPr lang="ru-RU" sz="1200" b="1" dirty="0">
                          <a:latin typeface="+mn-lt"/>
                        </a:rPr>
                        <a:t>Оптимальная выборка</a:t>
                      </a:r>
                    </a:p>
                  </a:txBody>
                  <a:tcPr/>
                </a:tc>
                <a:tc>
                  <a:txBody>
                    <a:bodyPr/>
                    <a:lstStyle/>
                    <a:p>
                      <a:r>
                        <a:rPr lang="ru-RU" sz="1200" dirty="0">
                          <a:latin typeface="+mn-lt"/>
                        </a:rPr>
                        <a:t>3000</a:t>
                      </a:r>
                    </a:p>
                  </a:txBody>
                  <a:tcPr/>
                </a:tc>
                <a:tc>
                  <a:txBody>
                    <a:bodyPr/>
                    <a:lstStyle/>
                    <a:p>
                      <a:r>
                        <a:rPr lang="ru-RU" sz="1200" dirty="0">
                          <a:latin typeface="+mn-lt"/>
                        </a:rPr>
                        <a:t>1, 14, 32</a:t>
                      </a:r>
                    </a:p>
                    <a:p>
                      <a:r>
                        <a:rPr lang="ru-RU" sz="1200" dirty="0">
                          <a:latin typeface="+mn-lt"/>
                        </a:rPr>
                        <a:t>1, 19, 32</a:t>
                      </a:r>
                    </a:p>
                  </a:txBody>
                  <a:tcPr/>
                </a:tc>
                <a:tc>
                  <a:txBody>
                    <a:bodyPr/>
                    <a:lstStyle/>
                    <a:p>
                      <a:r>
                        <a:rPr lang="ru-RU" sz="1200" dirty="0">
                          <a:latin typeface="+mn-lt"/>
                        </a:rPr>
                        <a:t>6 / 13 (1, 3, 4, 5, 6, 10)</a:t>
                      </a:r>
                    </a:p>
                  </a:txBody>
                  <a:tcPr/>
                </a:tc>
                <a:tc>
                  <a:txBody>
                    <a:bodyPr/>
                    <a:lstStyle/>
                    <a:p>
                      <a:r>
                        <a:rPr lang="ru-RU" sz="1200" dirty="0">
                          <a:latin typeface="+mn-lt"/>
                        </a:rPr>
                        <a:t>T &gt; 1500</a:t>
                      </a:r>
                    </a:p>
                  </a:txBody>
                  <a:tcPr/>
                </a:tc>
                <a:tc>
                  <a:txBody>
                    <a:bodyPr/>
                    <a:lstStyle/>
                    <a:p>
                      <a:r>
                        <a:rPr lang="ru-RU" sz="1200" dirty="0">
                          <a:latin typeface="+mn-lt"/>
                        </a:rPr>
                        <a:t>0,0679 лаг 48</a:t>
                      </a:r>
                    </a:p>
                  </a:txBody>
                  <a:tcPr/>
                </a:tc>
                <a:tc>
                  <a:txBody>
                    <a:bodyPr/>
                    <a:lstStyle/>
                    <a:p>
                      <a:r>
                        <a:rPr lang="ru-RU" sz="1200" b="1" dirty="0">
                          <a:latin typeface="+mn-lt"/>
                        </a:rPr>
                        <a:t>Хорошо.</a:t>
                      </a:r>
                      <a:r>
                        <a:rPr lang="ru-RU" sz="1200" dirty="0">
                          <a:latin typeface="+mn-lt"/>
                        </a:rPr>
                        <a:t> Лучший результат серии.</a:t>
                      </a:r>
                    </a:p>
                  </a:txBody>
                  <a:tcPr/>
                </a:tc>
                <a:extLst>
                  <a:ext uri="{0D108BD9-81ED-4DB2-BD59-A6C34878D82A}">
                    <a16:rowId xmlns:a16="http://schemas.microsoft.com/office/drawing/2014/main" val="1448278940"/>
                  </a:ext>
                </a:extLst>
              </a:tr>
              <a:tr h="780707">
                <a:tc>
                  <a:txBody>
                    <a:bodyPr/>
                    <a:lstStyle/>
                    <a:p>
                      <a:r>
                        <a:rPr lang="ru-RU" sz="1200" b="1" dirty="0">
                          <a:latin typeface="+mn-lt"/>
                        </a:rPr>
                        <a:t>Увеличенная выборка</a:t>
                      </a:r>
                    </a:p>
                  </a:txBody>
                  <a:tcPr/>
                </a:tc>
                <a:tc>
                  <a:txBody>
                    <a:bodyPr/>
                    <a:lstStyle/>
                    <a:p>
                      <a:r>
                        <a:rPr lang="ru-RU" sz="1200" dirty="0">
                          <a:latin typeface="+mn-lt"/>
                        </a:rPr>
                        <a:t>10 000</a:t>
                      </a:r>
                    </a:p>
                  </a:txBody>
                  <a:tcPr/>
                </a:tc>
                <a:tc>
                  <a:txBody>
                    <a:bodyPr/>
                    <a:lstStyle/>
                    <a:p>
                      <a:r>
                        <a:rPr lang="ru-RU" sz="1200" dirty="0">
                          <a:latin typeface="+mn-lt"/>
                        </a:rPr>
                        <a:t>1, 14, 32</a:t>
                      </a:r>
                    </a:p>
                    <a:p>
                      <a:r>
                        <a:rPr lang="ru-RU" sz="1200" dirty="0">
                          <a:latin typeface="+mn-lt"/>
                        </a:rPr>
                        <a:t>1, 19, 32</a:t>
                      </a:r>
                    </a:p>
                  </a:txBody>
                  <a:tcPr/>
                </a:tc>
                <a:tc>
                  <a:txBody>
                    <a:bodyPr/>
                    <a:lstStyle/>
                    <a:p>
                      <a:r>
                        <a:rPr lang="ru-RU" sz="1200" dirty="0">
                          <a:latin typeface="+mn-lt"/>
                        </a:rPr>
                        <a:t>4 / 13 (3, 4, 6, 10)</a:t>
                      </a:r>
                    </a:p>
                  </a:txBody>
                  <a:tcPr/>
                </a:tc>
                <a:tc>
                  <a:txBody>
                    <a:bodyPr/>
                    <a:lstStyle/>
                    <a:p>
                      <a:r>
                        <a:rPr lang="ru-RU" sz="1200" dirty="0">
                          <a:latin typeface="+mn-lt"/>
                        </a:rPr>
                        <a:t>T &gt; 5000</a:t>
                      </a:r>
                    </a:p>
                  </a:txBody>
                  <a:tcPr/>
                </a:tc>
                <a:tc>
                  <a:txBody>
                    <a:bodyPr/>
                    <a:lstStyle/>
                    <a:p>
                      <a:r>
                        <a:rPr lang="ru-RU" sz="1200" dirty="0">
                          <a:latin typeface="+mn-lt"/>
                        </a:rPr>
                        <a:t>−0,0420 лаг 88</a:t>
                      </a:r>
                    </a:p>
                  </a:txBody>
                  <a:tcPr/>
                </a:tc>
                <a:tc>
                  <a:txBody>
                    <a:bodyPr/>
                    <a:lstStyle/>
                    <a:p>
                      <a:r>
                        <a:rPr lang="ru-RU" sz="1200" b="1" dirty="0">
                          <a:latin typeface="+mn-lt"/>
                        </a:rPr>
                        <a:t>Удовлетворительно.</a:t>
                      </a:r>
                      <a:r>
                        <a:rPr lang="ru-RU" sz="1200" dirty="0">
                          <a:latin typeface="+mn-lt"/>
                        </a:rPr>
                        <a:t> Зацикливания нет; не пройдены тесты № 1 и 5.</a:t>
                      </a:r>
                    </a:p>
                  </a:txBody>
                  <a:tcPr/>
                </a:tc>
                <a:extLst>
                  <a:ext uri="{0D108BD9-81ED-4DB2-BD59-A6C34878D82A}">
                    <a16:rowId xmlns:a16="http://schemas.microsoft.com/office/drawing/2014/main" val="89149453"/>
                  </a:ext>
                </a:extLst>
              </a:tr>
              <a:tr h="780707">
                <a:tc>
                  <a:txBody>
                    <a:bodyPr/>
                    <a:lstStyle/>
                    <a:p>
                      <a:r>
                        <a:rPr lang="ru-RU" sz="1200" b="1" dirty="0">
                          <a:latin typeface="+mn-lt"/>
                        </a:rPr>
                        <a:t>Большая выборка</a:t>
                      </a:r>
                    </a:p>
                  </a:txBody>
                  <a:tcPr/>
                </a:tc>
                <a:tc>
                  <a:txBody>
                    <a:bodyPr/>
                    <a:lstStyle/>
                    <a:p>
                      <a:r>
                        <a:rPr lang="ru-RU" sz="1200" dirty="0">
                          <a:latin typeface="+mn-lt"/>
                        </a:rPr>
                        <a:t>100 000</a:t>
                      </a:r>
                    </a:p>
                  </a:txBody>
                  <a:tcPr/>
                </a:tc>
                <a:tc>
                  <a:txBody>
                    <a:bodyPr/>
                    <a:lstStyle/>
                    <a:p>
                      <a:r>
                        <a:rPr lang="ru-RU" sz="1200" dirty="0">
                          <a:latin typeface="+mn-lt"/>
                        </a:rPr>
                        <a:t>1, 14, 32</a:t>
                      </a:r>
                    </a:p>
                    <a:p>
                      <a:r>
                        <a:rPr lang="ru-RU" sz="1200" dirty="0">
                          <a:latin typeface="+mn-lt"/>
                        </a:rPr>
                        <a:t>1, 19, 32</a:t>
                      </a:r>
                    </a:p>
                  </a:txBody>
                  <a:tcPr/>
                </a:tc>
                <a:tc>
                  <a:txBody>
                    <a:bodyPr/>
                    <a:lstStyle/>
                    <a:p>
                      <a:r>
                        <a:rPr lang="ru-RU" sz="1200" dirty="0">
                          <a:latin typeface="+mn-lt"/>
                        </a:rPr>
                        <a:t>4 / 13 (3, 4, 6, 10)</a:t>
                      </a:r>
                    </a:p>
                  </a:txBody>
                  <a:tcPr/>
                </a:tc>
                <a:tc>
                  <a:txBody>
                    <a:bodyPr/>
                    <a:lstStyle/>
                    <a:p>
                      <a:r>
                        <a:rPr lang="ru-RU" sz="1200" dirty="0">
                          <a:latin typeface="+mn-lt"/>
                        </a:rPr>
                        <a:t>T &gt; 10 000</a:t>
                      </a:r>
                    </a:p>
                  </a:txBody>
                  <a:tcPr/>
                </a:tc>
                <a:tc>
                  <a:txBody>
                    <a:bodyPr/>
                    <a:lstStyle/>
                    <a:p>
                      <a:r>
                        <a:rPr lang="ru-RU" sz="1200" dirty="0">
                          <a:latin typeface="+mn-lt"/>
                        </a:rPr>
                        <a:t>0,0131 лаг 2211</a:t>
                      </a:r>
                    </a:p>
                  </a:txBody>
                  <a:tcPr/>
                </a:tc>
                <a:tc>
                  <a:txBody>
                    <a:bodyPr/>
                    <a:lstStyle/>
                    <a:p>
                      <a:r>
                        <a:rPr lang="ru-RU" sz="1200" b="1" dirty="0">
                          <a:latin typeface="+mn-lt"/>
                        </a:rPr>
                        <a:t>Удовлетворительно.</a:t>
                      </a:r>
                      <a:r>
                        <a:rPr lang="ru-RU" sz="1200" dirty="0">
                          <a:latin typeface="+mn-lt"/>
                        </a:rPr>
                        <a:t> Тот же результат, что на 10 000.</a:t>
                      </a:r>
                    </a:p>
                  </a:txBody>
                  <a:tcPr/>
                </a:tc>
                <a:extLst>
                  <a:ext uri="{0D108BD9-81ED-4DB2-BD59-A6C34878D82A}">
                    <a16:rowId xmlns:a16="http://schemas.microsoft.com/office/drawing/2014/main" val="2247753543"/>
                  </a:ext>
                </a:extLst>
              </a:tr>
              <a:tr h="689798">
                <a:tc>
                  <a:txBody>
                    <a:bodyPr/>
                    <a:lstStyle/>
                    <a:p>
                      <a:r>
                        <a:rPr lang="ru-RU" sz="1200" b="1" dirty="0">
                          <a:latin typeface="+mn-lt"/>
                        </a:rPr>
                        <a:t>Очень большая выборка</a:t>
                      </a:r>
                    </a:p>
                  </a:txBody>
                  <a:tcPr/>
                </a:tc>
                <a:tc>
                  <a:txBody>
                    <a:bodyPr/>
                    <a:lstStyle/>
                    <a:p>
                      <a:r>
                        <a:rPr lang="ru-RU" sz="1200" dirty="0">
                          <a:latin typeface="+mn-lt"/>
                        </a:rPr>
                        <a:t>1 000 000</a:t>
                      </a:r>
                    </a:p>
                  </a:txBody>
                  <a:tcPr/>
                </a:tc>
                <a:tc>
                  <a:txBody>
                    <a:bodyPr/>
                    <a:lstStyle/>
                    <a:p>
                      <a:r>
                        <a:rPr lang="ru-RU" sz="1200" dirty="0">
                          <a:latin typeface="+mn-lt"/>
                        </a:rPr>
                        <a:t>1, 14, 32</a:t>
                      </a:r>
                    </a:p>
                    <a:p>
                      <a:r>
                        <a:rPr lang="ru-RU" sz="1200" dirty="0">
                          <a:latin typeface="+mn-lt"/>
                        </a:rPr>
                        <a:t>1, 19, 32</a:t>
                      </a:r>
                    </a:p>
                  </a:txBody>
                  <a:tcPr/>
                </a:tc>
                <a:tc>
                  <a:txBody>
                    <a:bodyPr/>
                    <a:lstStyle/>
                    <a:p>
                      <a:r>
                        <a:rPr lang="ru-RU" sz="1200" dirty="0">
                          <a:latin typeface="+mn-lt"/>
                        </a:rPr>
                        <a:t>5 / 13 (1, 3, 4, 6, 10)</a:t>
                      </a:r>
                    </a:p>
                  </a:txBody>
                  <a:tcPr/>
                </a:tc>
                <a:tc>
                  <a:txBody>
                    <a:bodyPr/>
                    <a:lstStyle/>
                    <a:p>
                      <a:r>
                        <a:rPr lang="ru-RU" sz="1200" dirty="0">
                          <a:latin typeface="+mn-lt"/>
                        </a:rPr>
                        <a:t>T &gt; 10 000</a:t>
                      </a:r>
                    </a:p>
                  </a:txBody>
                  <a:tcPr/>
                </a:tc>
                <a:tc>
                  <a:txBody>
                    <a:bodyPr/>
                    <a:lstStyle/>
                    <a:p>
                      <a:r>
                        <a:rPr lang="ru-RU" sz="1200" dirty="0">
                          <a:latin typeface="+mn-lt"/>
                        </a:rPr>
                        <a:t>0,0096 лаг 2328</a:t>
                      </a:r>
                    </a:p>
                  </a:txBody>
                  <a:tcPr/>
                </a:tc>
                <a:tc>
                  <a:txBody>
                    <a:bodyPr/>
                    <a:lstStyle/>
                    <a:p>
                      <a:r>
                        <a:rPr lang="ru-RU" sz="1200" b="1" dirty="0">
                          <a:latin typeface="+mn-lt"/>
                        </a:rPr>
                        <a:t>Удовлетворительно.</a:t>
                      </a:r>
                      <a:r>
                        <a:rPr lang="ru-RU" sz="1200" dirty="0">
                          <a:latin typeface="+mn-lt"/>
                        </a:rPr>
                        <a:t> Зацикливания нет; снова пройден тест № 1.</a:t>
                      </a:r>
                    </a:p>
                  </a:txBody>
                  <a:tcPr/>
                </a:tc>
                <a:extLst>
                  <a:ext uri="{0D108BD9-81ED-4DB2-BD59-A6C34878D82A}">
                    <a16:rowId xmlns:a16="http://schemas.microsoft.com/office/drawing/2014/main" val="747628150"/>
                  </a:ext>
                </a:extLst>
              </a:tr>
            </a:tbl>
          </a:graphicData>
        </a:graphic>
      </p:graphicFrame>
      <p:sp>
        <p:nvSpPr>
          <p:cNvPr id="4" name="Номер слайда 3">
            <a:extLst>
              <a:ext uri="{FF2B5EF4-FFF2-40B4-BE49-F238E27FC236}">
                <a16:creationId xmlns:a16="http://schemas.microsoft.com/office/drawing/2014/main" id="{5AF6574A-4953-4DE2-6698-5750AE3F92ED}"/>
              </a:ext>
            </a:extLst>
          </p:cNvPr>
          <p:cNvSpPr>
            <a:spLocks noGrp="1"/>
          </p:cNvSpPr>
          <p:nvPr>
            <p:ph type="sldNum" sz="quarter" idx="12"/>
          </p:nvPr>
        </p:nvSpPr>
        <p:spPr/>
        <p:txBody>
          <a:bodyPr/>
          <a:lstStyle/>
          <a:p>
            <a:fld id="{A93D2B9D-3E5A-4208-B841-6DCB29E9E020}" type="slidenum">
              <a:rPr lang="ru-RU" smtClean="0"/>
              <a:t>17</a:t>
            </a:fld>
            <a:endParaRPr lang="ru-RU"/>
          </a:p>
        </p:txBody>
      </p:sp>
    </p:spTree>
    <p:extLst>
      <p:ext uri="{BB962C8B-B14F-4D97-AF65-F5344CB8AC3E}">
        <p14:creationId xmlns:p14="http://schemas.microsoft.com/office/powerpoint/2010/main" val="19826355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9DC63C1-0834-FD4B-BC23-335351A0B081}"/>
              </a:ext>
            </a:extLst>
          </p:cNvPr>
          <p:cNvSpPr>
            <a:spLocks noGrp="1"/>
          </p:cNvSpPr>
          <p:nvPr>
            <p:ph type="title"/>
          </p:nvPr>
        </p:nvSpPr>
        <p:spPr>
          <a:xfrm>
            <a:off x="838200" y="405231"/>
            <a:ext cx="10515600" cy="1325563"/>
          </a:xfrm>
        </p:spPr>
        <p:txBody>
          <a:bodyPr>
            <a:normAutofit/>
          </a:bodyPr>
          <a:lstStyle/>
          <a:p>
            <a:r>
              <a:rPr lang="ru-RU" sz="2400" dirty="0">
                <a:solidFill>
                  <a:schemeClr val="accent5">
                    <a:lumMod val="75000"/>
                  </a:schemeClr>
                </a:solidFill>
                <a:latin typeface="Arial Black" panose="020B0A04020102020204" pitchFamily="34" charset="0"/>
              </a:rPr>
              <a:t>Вывод </a:t>
            </a:r>
            <a:endParaRPr lang="ru-RU" sz="2400" dirty="0"/>
          </a:p>
        </p:txBody>
      </p:sp>
      <p:sp>
        <p:nvSpPr>
          <p:cNvPr id="4" name="Номер слайда 3">
            <a:extLst>
              <a:ext uri="{FF2B5EF4-FFF2-40B4-BE49-F238E27FC236}">
                <a16:creationId xmlns:a16="http://schemas.microsoft.com/office/drawing/2014/main" id="{372DF2D4-8776-79FD-1F0C-CF23A1C4B2B0}"/>
              </a:ext>
            </a:extLst>
          </p:cNvPr>
          <p:cNvSpPr>
            <a:spLocks noGrp="1"/>
          </p:cNvSpPr>
          <p:nvPr>
            <p:ph type="sldNum" sz="quarter" idx="12"/>
          </p:nvPr>
        </p:nvSpPr>
        <p:spPr/>
        <p:txBody>
          <a:bodyPr/>
          <a:lstStyle/>
          <a:p>
            <a:fld id="{A93D2B9D-3E5A-4208-B841-6DCB29E9E020}" type="slidenum">
              <a:rPr lang="ru-RU" smtClean="0"/>
              <a:t>18</a:t>
            </a:fld>
            <a:endParaRPr lang="ru-RU"/>
          </a:p>
        </p:txBody>
      </p:sp>
      <mc:AlternateContent xmlns:mc="http://schemas.openxmlformats.org/markup-compatibility/2006" xmlns:a14="http://schemas.microsoft.com/office/drawing/2010/main">
        <mc:Choice Requires="a14">
          <p:sp>
            <p:nvSpPr>
              <p:cNvPr id="9" name="Rectangle 5">
                <a:extLst>
                  <a:ext uri="{FF2B5EF4-FFF2-40B4-BE49-F238E27FC236}">
                    <a16:creationId xmlns:a16="http://schemas.microsoft.com/office/drawing/2014/main" id="{E33723E3-1C50-C2FA-2C45-BBCA1CCE188A}"/>
                  </a:ext>
                </a:extLst>
              </p:cNvPr>
              <p:cNvSpPr>
                <a:spLocks noChangeArrowheads="1"/>
              </p:cNvSpPr>
              <p:nvPr/>
            </p:nvSpPr>
            <p:spPr bwMode="auto">
              <a:xfrm>
                <a:off x="838200" y="1115241"/>
                <a:ext cx="10515600" cy="558614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0" tIns="0" rIns="0" bIns="45720" numCol="1" anchor="ctr" anchorCtr="0" compatLnSpc="1">
                <a:prstTxWarp prst="textNoShape">
                  <a:avLst/>
                </a:prstTxWarp>
                <a:spAutoFit/>
              </a:bodyPr>
              <a:lstStyle/>
              <a:p>
                <a:pPr lvl="0" eaLnBrk="0" fontAlgn="base" hangingPunct="0">
                  <a:spcBef>
                    <a:spcPct val="0"/>
                  </a:spcBef>
                  <a:spcAft>
                    <a:spcPct val="0"/>
                  </a:spcAft>
                </a:pPr>
                <a:r>
                  <a:rPr lang="ru-RU" dirty="0"/>
                  <a:t>В ходе работы исследован генератор псевдослучайных последовательностей «Стоп-Пошёл», построенный на основе двух линейных регистров сдвига с обратной связью..</a:t>
                </a:r>
              </a:p>
              <a:p>
                <a:pPr lvl="0" eaLnBrk="0" fontAlgn="base" hangingPunct="0">
                  <a:spcBef>
                    <a:spcPct val="0"/>
                  </a:spcBef>
                  <a:spcAft>
                    <a:spcPct val="0"/>
                  </a:spcAft>
                </a:pPr>
                <a:endParaRPr lang="ru-RU" dirty="0"/>
              </a:p>
              <a:p>
                <a:pPr lvl="0" eaLnBrk="0" fontAlgn="base" hangingPunct="0">
                  <a:spcBef>
                    <a:spcPct val="0"/>
                  </a:spcBef>
                  <a:spcAft>
                    <a:spcPct val="0"/>
                  </a:spcAft>
                </a:pPr>
                <a:r>
                  <a:rPr lang="ru-RU" dirty="0"/>
                  <a:t>Максимальный исследуемый лаг в проведенных экспериментах составлял </a:t>
                </a:r>
                <a:r>
                  <a:rPr lang="en-US" dirty="0"/>
                  <a:t>N/2+1</a:t>
                </a:r>
                <a:r>
                  <a:rPr lang="ru-RU" dirty="0"/>
                  <a:t>, за исключением последовательности равной 100000 и 1000000 элементов. Модуль автокорреляционного анализа визуализирует окно в </a:t>
                </a:r>
                <a14:m>
                  <m:oMath xmlns:m="http://schemas.openxmlformats.org/officeDocument/2006/math">
                    <m:r>
                      <a:rPr lang="ru-RU">
                        <a:latin typeface="Cambria Math" panose="02040503050406030204" pitchFamily="18" charset="0"/>
                      </a:rPr>
                      <m:t>10.000</m:t>
                    </m:r>
                  </m:oMath>
                </a14:m>
                <a:r>
                  <a:rPr lang="ru-RU" dirty="0"/>
                  <a:t> точек, на котором коэффициенты автокорреляции не выходят за пределы доверительного интервала, подтверждая свойства </a:t>
                </a:r>
                <a:r>
                  <a:rPr lang="ru-RU" dirty="0" err="1"/>
                  <a:t>псевдослучайности</a:t>
                </a:r>
                <a:r>
                  <a:rPr lang="ru-RU" dirty="0"/>
                  <a:t>.</a:t>
                </a:r>
              </a:p>
              <a:p>
                <a:pPr lvl="0" eaLnBrk="0" fontAlgn="base" hangingPunct="0">
                  <a:spcBef>
                    <a:spcPct val="0"/>
                  </a:spcBef>
                  <a:spcAft>
                    <a:spcPct val="0"/>
                  </a:spcAft>
                </a:pPr>
                <a:endParaRPr lang="ru-RU" dirty="0"/>
              </a:p>
              <a:p>
                <a:r>
                  <a:rPr lang="ru-US" dirty="0"/>
                  <a:t>Для всех выборок (от 1000 до 1 000 000 чисел) при влияющих битах (1, 14, 32) и (1, 19, 32) на графиках АКФ нет пиков на лаге периода, а максимум коэффициента убывает с 0,0927 до 0,0096, что характерно для шума. Значит, период генератора превышает окно анализа. При влияющих битах (1, 3, 9) пик 0,7584 на лаге 249 показывает, что последовательность повторяется примерно каждые 250 чисел.</a:t>
                </a:r>
              </a:p>
              <a:p>
                <a:pPr lvl="0" eaLnBrk="0" fontAlgn="base" hangingPunct="0">
                  <a:spcBef>
                    <a:spcPct val="0"/>
                  </a:spcBef>
                  <a:spcAft>
                    <a:spcPct val="0"/>
                  </a:spcAft>
                </a:pPr>
                <a:endParaRPr lang="ru-RU" dirty="0"/>
              </a:p>
              <a:p>
                <a:pPr lvl="0" eaLnBrk="0" fontAlgn="base" hangingPunct="0">
                  <a:spcBef>
                    <a:spcPct val="0"/>
                  </a:spcBef>
                  <a:spcAft>
                    <a:spcPct val="0"/>
                  </a:spcAft>
                </a:pPr>
                <a:r>
                  <a:rPr lang="ru-RU" dirty="0"/>
                  <a:t>В большинстве тестов коэффициенты автокорреляции близки к нулю: например, 0,0679, −0,0420, 0,0131 и 0,0096. На соответствующих графиках не наблюдается выраженных высоких пиков, что указывает на слабую корреляционную зависимость между элементами последовательности на исследуемых лагах.</a:t>
                </a:r>
                <a:br>
                  <a:rPr lang="ru-RU" dirty="0"/>
                </a:br>
                <a:br>
                  <a:rPr lang="ru-RU" dirty="0"/>
                </a:br>
                <a:r>
                  <a:rPr lang="ru-RU" dirty="0"/>
                  <a:t>Таким образом, автокорреляционный анализ позволяет выявить возможные зависимости между элементами выходной последовательности и оценить влияние параметров генератора на её статистические свойства.</a:t>
                </a:r>
                <a:endParaRPr kumimoji="0" lang="ru-RU" altLang="ru-RU" b="0" i="0" u="none" strike="noStrike" cap="none" normalizeH="0" baseline="0" dirty="0">
                  <a:ln>
                    <a:noFill/>
                  </a:ln>
                  <a:solidFill>
                    <a:schemeClr val="tx1"/>
                  </a:solidFill>
                  <a:effectLst/>
                </a:endParaRPr>
              </a:p>
            </p:txBody>
          </p:sp>
        </mc:Choice>
        <mc:Fallback xmlns="">
          <p:sp>
            <p:nvSpPr>
              <p:cNvPr id="9" name="Rectangle 5">
                <a:extLst>
                  <a:ext uri="{FF2B5EF4-FFF2-40B4-BE49-F238E27FC236}">
                    <a16:creationId xmlns:a16="http://schemas.microsoft.com/office/drawing/2014/main" id="{E33723E3-1C50-C2FA-2C45-BBCA1CCE188A}"/>
                  </a:ext>
                </a:extLst>
              </p:cNvPr>
              <p:cNvSpPr>
                <a:spLocks noRot="1" noChangeAspect="1" noMove="1" noResize="1" noEditPoints="1" noAdjustHandles="1" noChangeArrowheads="1" noChangeShapeType="1" noTextEdit="1"/>
              </p:cNvSpPr>
              <p:nvPr/>
            </p:nvSpPr>
            <p:spPr bwMode="auto">
              <a:xfrm>
                <a:off x="838200" y="1115241"/>
                <a:ext cx="10515600" cy="5586145"/>
              </a:xfrm>
              <a:prstGeom prst="rect">
                <a:avLst/>
              </a:prstGeom>
              <a:blipFill>
                <a:blip r:embed="rId2"/>
                <a:stretch>
                  <a:fillRect l="-1448" t="-680" r="-1206" b="-136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ru-US">
                    <a:noFill/>
                  </a:rPr>
                  <a:t> </a:t>
                </a:r>
              </a:p>
            </p:txBody>
          </p:sp>
        </mc:Fallback>
      </mc:AlternateContent>
    </p:spTree>
    <p:extLst>
      <p:ext uri="{BB962C8B-B14F-4D97-AF65-F5344CB8AC3E}">
        <p14:creationId xmlns:p14="http://schemas.microsoft.com/office/powerpoint/2010/main" val="91704337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4278</TotalTime>
  <Words>1493</Words>
  <Application>Microsoft Office PowerPoint</Application>
  <PresentationFormat>Широкоэкранный</PresentationFormat>
  <Paragraphs>192</Paragraphs>
  <Slides>18</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18</vt:i4>
      </vt:variant>
    </vt:vector>
  </HeadingPairs>
  <TitlesOfParts>
    <vt:vector size="19" baseType="lpstr">
      <vt:lpstr>Тема Office</vt:lpstr>
      <vt:lpstr>Стеганографические методы защиты информации Задание 1</vt:lpstr>
      <vt:lpstr>Оглавление</vt:lpstr>
      <vt:lpstr>Теория</vt:lpstr>
      <vt:lpstr>Пример теста оптимальной выборки (3000 точек)</vt:lpstr>
      <vt:lpstr>Пример плохого теста (3000 точек)</vt:lpstr>
      <vt:lpstr>Пример теста короткой выборки (1000 точек)</vt:lpstr>
      <vt:lpstr>Пример теста увеличенной выборки (10.000 точек)</vt:lpstr>
      <vt:lpstr>Пример теста большой выборки (100.000 точек)</vt:lpstr>
      <vt:lpstr>Пример теста очень большой выборки (1.000.000 точек)</vt:lpstr>
      <vt:lpstr>Тестирование (1000 точек) </vt:lpstr>
      <vt:lpstr>Тестирование (3000 точек) </vt:lpstr>
      <vt:lpstr>Тестирование (10.000 точек) </vt:lpstr>
      <vt:lpstr>Тестирование (100.000 точек) </vt:lpstr>
      <vt:lpstr>Тестирование (1.000.000 точек) </vt:lpstr>
      <vt:lpstr>Тестирование плохих (3000 точек) </vt:lpstr>
      <vt:lpstr>Вывод по тестам</vt:lpstr>
      <vt:lpstr>Сводная таблица результатов тестирования ГПСЧ</vt:lpstr>
      <vt:lpstr>Вывод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Print</dc:creator>
  <cp:lastModifiedBy>Лопатин Артём Алексеевич</cp:lastModifiedBy>
  <cp:revision>297</cp:revision>
  <dcterms:created xsi:type="dcterms:W3CDTF">2021-11-29T10:22:08Z</dcterms:created>
  <dcterms:modified xsi:type="dcterms:W3CDTF">2026-10-26T09:13:39Z</dcterms:modified>
</cp:coreProperties>
</file>